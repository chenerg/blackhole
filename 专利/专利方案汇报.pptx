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10" Type="http://schemas.openxmlformats.org/officeDocument/2006/relationships/presProps" Target="presProps.xml" /><Relationship Id="rId7" Type="http://schemas.openxmlformats.org/officeDocument/2006/relationships/slide" Target="slides/slide7.xml" /><Relationship Id="rId9" Type="http://schemas.openxmlformats.org/officeDocument/2006/relationships/notesMaster" Target="notesMasters/notesMaster1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2" Type="http://schemas.openxmlformats.org/officeDocument/2006/relationships/slide" Target="slides/slide2.xml" /><Relationship Id="rId12" Type="http://schemas.openxmlformats.org/officeDocument/2006/relationships/viewProps" Target="viewProps.xml" /><Relationship Id="rId5" Type="http://schemas.openxmlformats.org/officeDocument/2006/relationships/slide" Target="slides/slide5.xml" /><Relationship Id="rId11" Type="http://schemas.openxmlformats.org/officeDocument/2006/relationships/tableStyles" Target="tableStyles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6" Type="http://schemas.openxmlformats.org/officeDocument/2006/relationships/slide" Target="slides/slide6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" name="" descr="&lt;Slide style={{ width:'1280px', height:'720px', padding:'40px 60px', background:'#FFFFFF', display:'flex', flexDirection:'column', fontFamily:&quot;'PingFang SC','Microsoft YaHei',sans-serif&quot; }}&gt;&#10;  &lt;Box style={{ flex:1, flexDirection:'row', alignItems:'center' }}&gt;&#10;    &lt;Box style={{ flex:1, paddingRight:30 }}&gt;&#10;      &lt;Text style={{ fontSize:52, fontWeight:'bold', color:'#1E3A8A', lineHeight:1.25 }}&gt;基于 Agent 的长程具身任务&lt;br/&gt;分解、失败监督与自适应&lt;br/&gt;数据采集方法&lt;/Text&gt;&#10;      &lt;Box style={{ width:120, height:6, background:'#F59E0B', marginTop:26, marginBottom:22, borderRadius:3 }} /&gt;&#10;      &lt;Text style={{ fontSize:24, color:'#64748B', lineHeight:1.5 }}&gt;专利方案汇报 · 数据采集闭环系统&lt;/Text&gt;&#10;      &lt;Text style={{ fontSize:17, color:'#94A3B8', marginTop:14, lineHeight:1.6 }}&gt;长程 Task 生成 → Subtask 派发 → 在线监督 → 失败 / Recovery 数据 → 失败驱动采集&lt;/Text&gt;&#10;    &lt;/Box&gt;&#10;    &lt;Box style={{ width:420, alignItems:'center', justifyContent:'center' }}&gt;&#10;      &lt;svg width={380} height={380} viewBox='0 0 380 380'&gt;&#10;        &lt;defs&gt;&#10;          &lt;marker id='ah' markerWidth='10' markerHeight='10' refX='6' refY='3' orient='auto'&gt;&#10;            &lt;path d='M0,0 L6,3 L0,6 Z' fill='#3B82F6' /&gt;&#10;          &lt;/marker&gt;&#10;        &lt;/defs&gt;&#10;        &lt;circle cx='190' cy='190' r='150' fill='none' stroke='#3B82F6' strokeWidth='3' strokeDasharray='6 8' /&gt;&#10;        &lt;path d='M 115 60 A 150 150 0 0 1 305 94' fill='none' stroke='#3B82F6' strokeWidth='3' markerEnd='url(#ah)' /&gt;&#10;        &lt;circle cx='190' cy='190' r='58' fill='#EFF6FF' /&gt;&#10;        &lt;text x='190' y='185' textAnchor='middle' fill='#1E3A8A' fontSize='18' fontWeight='bold'&gt;数据采集&lt;/text&gt;&#10;        &lt;text x='190' y='208' textAnchor='middle' fill='#1E3A8A' fontSize='18' fontWeight='bold'&gt;闭环&lt;/text&gt;&#10;        &lt;circle cx='190' cy='40' r='36' fill='#1E3A8A' /&gt;&#10;        &lt;text x='190' y='44' textAnchor='middle' fill='#fff' fontSize='13' fontWeight='bold'&gt;任务生成&lt;/text&gt;&#10;        &lt;circle cx='320' cy='115' r='36' fill='#1E3A8A' /&gt;&#10;        &lt;text x='320' y='119' textAnchor='middle' fill='#fff' fontSize='13' fontWeight='bold'&gt;Subtask拆分&lt;/text&gt;&#10;        &lt;circle cx='320' cy='265' r='36' fill='#1E3A8A' /&gt;&#10;        &lt;text x='320' y='269' textAnchor='middle' fill='#fff' fontSize='13' fontWeight='bold'&gt;逐步派发&lt;/text&gt;&#10;        &lt;circle cx='190' cy='340' r='36' fill='#1E3A8A' /&gt;&#10;        &lt;text x='190' y='344' textAnchor='middle' fill='#fff' fontSize='13' fontWeight='bold'&gt;在线监督&lt;/text&gt;&#10;        &lt;circle cx='60' cy='265' r='36' fill='#1E3A8A' /&gt;&#10;        &lt;text x='60' y='269' textAnchor='middle' fill='#fff' fontSize='13' fontWeight='bold'&gt;失败/Recovery&lt;/text&gt;&#10;        &lt;circle cx='60' cy='115' r='36' fill='#1E3A8A' /&gt;&#10;        &lt;text x='60' y='119' textAnchor='middle' fill='#fff' fontSize='12' fontWeight='bold'&gt;失败统计→加权&lt;/text&gt;&#10;      &lt;/svg&gt;&#10;    &lt;/Box&gt;&#10;  &lt;/Box&gt;&#10;  &lt;Box style={{ height:36, flexDirection:'row', justifyContent:'space-between', alignItems:'center', borderTop:'1px solid #E2E8F0' }}&gt;&#10;    &lt;Text style={{ fontSize:14, color:'#94A3B8' }}&gt;专利方案汇报&lt;/Text&gt;&#10;    &lt;Text style={{ fontSize:14, color:'#94A3B8' }}&gt;202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571500" y="1457325"/>
            <a:ext cx="6762750" cy="22288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900" b="1">
                <a:solidFill>
                  <a:srgbClr val="1E3A8A"/>
                </a:solidFill>
                <a:latin typeface="PingFang SC"/>
                <a:ea typeface="PingFang SC"/>
              </a:rPr>
              <a:t>基于</a:t>
            </a:r>
            <a:r>
              <a:rPr lang="en-US" sz="3900" b="1">
                <a:solidFill>
                  <a:srgbClr val="1E3A8A"/>
                </a:solidFill>
                <a:latin typeface="PingFang SC"/>
                <a:ea typeface="PingFang SC"/>
              </a:rPr>
              <a:t> Agent </a:t>
            </a:r>
            <a:r>
              <a:rPr lang="zh-CN" sz="3900" b="1">
                <a:solidFill>
                  <a:srgbClr val="1E3A8A"/>
                </a:solidFill>
                <a:latin typeface="PingFang SC"/>
                <a:ea typeface="PingFang SC"/>
              </a:rPr>
              <a:t>的长程具身任务</a:t>
            </a:r>
            <a:endParaRPr/>
          </a:p>
          <a:p>
            <a:pPr>
              <a:lnSpc>
                <a:spcPct val="125000"/>
              </a:lnSpc>
            </a:pPr>
            <a:r>
              <a:rPr lang="zh-CN" sz="3900" b="1">
                <a:solidFill>
                  <a:srgbClr val="1E3A8A"/>
                </a:solidFill>
                <a:latin typeface="PingFang SC"/>
                <a:ea typeface="PingFang SC"/>
              </a:rPr>
              <a:t>分解、失败监督与自适应</a:t>
            </a:r>
            <a:endParaRPr/>
          </a:p>
          <a:p>
            <a:pPr>
              <a:lnSpc>
                <a:spcPct val="125000"/>
              </a:lnSpc>
            </a:pPr>
            <a:r>
              <a:rPr lang="zh-CN" sz="3900" b="1">
                <a:solidFill>
                  <a:srgbClr val="1E3A8A"/>
                </a:solidFill>
                <a:latin typeface="PingFang SC"/>
                <a:ea typeface="PingFang SC"/>
              </a:rPr>
              <a:t>数据采集方法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571500" y="3933825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571500" y="4200525"/>
            <a:ext cx="6762750" cy="4191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800">
                <a:solidFill>
                  <a:srgbClr val="64748B"/>
                </a:solidFill>
                <a:latin typeface="PingFang SC"/>
                <a:ea typeface="PingFang SC"/>
              </a:rPr>
              <a:t>专利方案汇报</a:t>
            </a:r>
            <a:r>
              <a:rPr lang="en-US" sz="180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800">
                <a:solidFill>
                  <a:srgbClr val="64748B"/>
                </a:solidFill>
                <a:latin typeface="PingFang SC"/>
                <a:ea typeface="PingFang SC"/>
              </a:rPr>
              <a:t>数据采集闭环系统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571500" y="4752975"/>
            <a:ext cx="67627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94A3B8"/>
                </a:solidFill>
                <a:latin typeface="PingFang SC"/>
                <a:ea typeface="PingFang SC"/>
              </a:rPr>
              <a:t>长程</a:t>
            </a:r>
            <a:r>
              <a:rPr lang="en-US" sz="1275">
                <a:solidFill>
                  <a:srgbClr val="94A3B8"/>
                </a:solidFill>
                <a:latin typeface="PingFang SC"/>
                <a:ea typeface="PingFang SC"/>
              </a:rPr>
              <a:t> Task </a:t>
            </a:r>
            <a:r>
              <a:rPr lang="zh-CN" sz="1275">
                <a:solidFill>
                  <a:srgbClr val="94A3B8"/>
                </a:solidFill>
                <a:latin typeface="PingFang SC"/>
                <a:ea typeface="PingFang SC"/>
              </a:rPr>
              <a:t>生成</a:t>
            </a:r>
            <a:r>
              <a:rPr lang="en-US" sz="1275">
                <a:solidFill>
                  <a:srgbClr val="94A3B8"/>
                </a:solidFill>
                <a:latin typeface="PingFang SC"/>
                <a:ea typeface="PingFang SC"/>
              </a:rPr>
              <a:t> → Subtask </a:t>
            </a:r>
            <a:r>
              <a:rPr lang="zh-CN" sz="1275">
                <a:solidFill>
                  <a:srgbClr val="94A3B8"/>
                </a:solidFill>
                <a:latin typeface="PingFang SC"/>
                <a:ea typeface="PingFang SC"/>
              </a:rPr>
              <a:t>派发</a:t>
            </a:r>
            <a:r>
              <a:rPr lang="en-US" sz="1275">
                <a:solidFill>
                  <a:srgbClr val="94A3B8"/>
                </a:solidFill>
                <a:latin typeface="PingFang SC"/>
                <a:ea typeface="PingFang SC"/>
              </a:rPr>
              <a:t> → </a:t>
            </a:r>
            <a:r>
              <a:rPr lang="zh-CN" sz="1275">
                <a:solidFill>
                  <a:srgbClr val="94A3B8"/>
                </a:solidFill>
                <a:latin typeface="PingFang SC"/>
                <a:ea typeface="PingFang SC"/>
              </a:rPr>
              <a:t>在线监督</a:t>
            </a:r>
            <a:r>
              <a:rPr lang="en-US" sz="1275">
                <a:solidFill>
                  <a:srgbClr val="94A3B8"/>
                </a:solidFill>
                <a:latin typeface="PingFang SC"/>
                <a:ea typeface="PingFang SC"/>
              </a:rPr>
              <a:t> → </a:t>
            </a:r>
            <a:r>
              <a:rPr lang="zh-CN" sz="1275">
                <a:solidFill>
                  <a:srgbClr val="94A3B8"/>
                </a:solidFill>
                <a:latin typeface="PingFang SC"/>
                <a:ea typeface="PingFang SC"/>
              </a:rPr>
              <a:t>失败</a:t>
            </a:r>
            <a:r>
              <a:rPr lang="en-US" sz="1275">
                <a:solidFill>
                  <a:srgbClr val="94A3B8"/>
                </a:solidFill>
                <a:latin typeface="PingFang SC"/>
                <a:ea typeface="PingFang SC"/>
              </a:rPr>
              <a:t> / Recovery </a:t>
            </a:r>
            <a:r>
              <a:rPr lang="zh-CN" sz="1275">
                <a:solidFill>
                  <a:srgbClr val="94A3B8"/>
                </a:solidFill>
                <a:latin typeface="PingFang SC"/>
                <a:ea typeface="PingFang SC"/>
              </a:rPr>
              <a:t>数据</a:t>
            </a:r>
            <a:r>
              <a:rPr lang="en-US" sz="1275">
                <a:solidFill>
                  <a:srgbClr val="94A3B8"/>
                </a:solidFill>
                <a:latin typeface="PingFang SC"/>
                <a:ea typeface="PingFang SC"/>
              </a:rPr>
              <a:t> → </a:t>
            </a:r>
            <a:r>
              <a:rPr lang="zh-CN" sz="1275">
                <a:solidFill>
                  <a:srgbClr val="94A3B8"/>
                </a:solidFill>
                <a:latin typeface="PingFang SC"/>
                <a:ea typeface="PingFang SC"/>
              </a:rPr>
              <a:t>失败驱动采集</a:t>
            </a:r>
            <a:endParaRPr/>
          </a:p>
        </p:txBody>
      </p:sp>
      <p:pic>
        <p:nvPicPr>
          <p:cNvPr id="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810500" y="1447800"/>
            <a:ext cx="3619500" cy="3619500"/>
          </a:xfrm>
          <a:prstGeom prst="rect">
            <a:avLst/>
          </a:prstGeom>
          <a:ln/>
        </p:spPr>
      </p:pic>
      <p:sp>
        <p:nvSpPr>
          <p:cNvPr id="8" name=""/>
          <p:cNvSpPr/>
          <p:nvPr/>
        </p:nvSpPr>
        <p:spPr>
          <a:xfrm rot="0" flipH="0" flipV="0">
            <a:off x="571500" y="6134100"/>
            <a:ext cx="11049000" cy="342900"/>
          </a:xfrm>
          <a:custGeom>
            <a:pathLst>
              <a:path w="1160" h="36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571500" y="622935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PingFang SC"/>
                <a:ea typeface="PingFang SC"/>
              </a:rPr>
              <a:t>专利方案汇报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1296650" y="6229350"/>
            <a:ext cx="323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PingFang SC"/>
                <a:ea typeface="PingFang SC"/>
              </a:rPr>
              <a:t>2026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1" name="" descr="&lt;Slide style={{ width:'1280px', height:'720px', padding:'20px 60px', background:'#FFFFFF', display:'flex', flexDirection:'column', fontFamily:&quot;'PingFang SC','Microsoft YaHei',sans-serif&quot; }}&gt;&#10;  &lt;Box style={{ height:96, flexDirection:'row', alignItems:'center', gap:16, borderBottom:'3px solid #1E3A8A' }}&gt;&#10;    &lt;Box style={{ width:8, height:44, background:'#1E3A8A', borderRadius:4 }} /&gt;&#10;    &lt;Text style={{ fontSize:32, fontWeight:'bold', color:'#1E3A8A' }}&gt;① 背景与痛点&lt;/Text&gt;&#10;  &lt;/Box&gt;&#10;  &lt;Box style={{ flex:1, paddingTop:18, flexDirection:'column' }}&gt;&#10;    &lt;Box style={{ gap:12 }}&gt;&#10;      &lt;Box style={{ flexDirection:'row', gap:16, alignItems:'flex-start' }}&gt;&#10;        &lt;Box style={{ width:40, height:40, borderRadius:20, background:'#1E3A8A', alignItems:'center', justifyContent:'center', flexShrink:0 }}&gt;&#10;          &lt;Text style={{ color:'#fff', fontSize:20, fontWeight:'bold' }}&gt;1&lt;/Text&gt;&#10;        &lt;/Box&gt;&#10;        &lt;Box style={{ flex:1 }}&gt;&#10;          &lt;Text style={{ fontSize:20, fontWeight:'bold', color:'#1E3A8A' }}&gt;任务粒度较短&lt;/Text&gt;&#10;          &lt;Text style={{ fontSize:16, color:'#475569', lineHeight:1.5, marginTop:3 }}&gt;数据多集中于抓取、放置等单一技能，缺乏包含多个连续步骤的长程任务数据。&lt;/Text&gt;&#10;        &lt;/Box&gt;&#10;      &lt;/Box&gt;&#10;      &lt;Box style={{ flexDirection:'row', gap:16, alignItems:'flex-start' }}&gt;&#10;        &lt;Box style={{ width:40, height:40, borderRadius:20, background:'#1E3A8A', alignItems:'center', justifyContent:'center', flexShrink:0 }}&gt;&#10;          &lt;Text style={{ color:'#fff', fontSize:20, fontWeight:'bold' }}&gt;2&lt;/Text&gt;&#10;        &lt;/Box&gt;&#10;        &lt;Box style={{ flex:1 }}&gt;&#10;          &lt;Text style={{ fontSize:20, fontWeight:'bold', color:'#1E3A8A' }}&gt;缺少 Subtask 级标注&lt;/Text&gt;&#10;          &lt;Text style={{ fontSize:16, color:'#475569', lineHeight:1.5, marginTop:3 }}&gt;长程 Episode 通常仅有整体 Task 指令，缺乏各子任务的起止边界、完成与失败状态标注。&lt;/Text&gt;&#10;        &lt;/Box&gt;&#10;      &lt;/Box&gt;&#10;      &lt;Box style={{ flexDirection:'row', gap:16, alignItems:'flex-start' }}&gt;&#10;        &lt;Box style={{ width:40, height:40, borderRadius:20, background:'#1E3A8A', alignItems:'center', justifyContent:'center', flexShrink:0 }}&gt;&#10;          &lt;Text style={{ color:'#fff', fontSize:20, fontWeight:'bold' }}&gt;3&lt;/Text&gt;&#10;        &lt;/Box&gt;&#10;        &lt;Box style={{ flex:1 }}&gt;&#10;          &lt;Text style={{ fontSize:20, fontWeight:'bold', color:'#1E3A8A' }}&gt;失败数据利用率低&lt;/Text&gt;&#10;          &lt;Text style={{ fontSize:16, color:'#475569', lineHeight:1.5, marginTop:3 }}&gt;采集一旦失败往往直接废弃整段 Episode，未保留失败前状态、失败过程及恢复过程。&lt;/Text&gt;&#10;        &lt;/Box&gt;&#10;      &lt;/Box&gt;&#10;      &lt;Box style={{ flexDirection:'row', gap:16, alignItems:'flex-start' }}&gt;&#10;        &lt;Box style={{ width:40, height:40, borderRadius:20, background:'#1E3A8A', alignItems:'center', justifyContent:'center', flexShrink:0 }}&gt;&#10;          &lt;Text style={{ color:'#fff', fontSize:20, fontWeight:'bold' }}&gt;4&lt;/Text&gt;&#10;        &lt;/Box&gt;&#10;        &lt;Box style={{ flex:1 }}&gt;&#10;          &lt;Text style={{ fontSize:20, fontWeight:'bold', color:'#1E3A8A' }}&gt;采集过程缺少动态调度&lt;/Text&gt;&#10;          &lt;Text style={{ fontSize:16, color:'#475569', lineHeight:1.5, marginTop:3 }}&gt;任务通常在采集开始前固定，无法根据执行状态实时调整后续 Subtask。&lt;/Text&gt;&#10;        &lt;/Box&gt;&#10;      &lt;/Box&gt;&#10;      &lt;Box style={{ flexDirection:'row', gap:16, alignItems:'flex-start' }}&gt;&#10;        &lt;Box style={{ width:40, height:40, borderRadius:20, background:'#1E3A8A', alignItems:'center', justifyContent:'center', flexShrink:0 }}&gt;&#10;          &lt;Text style={{ color:'#fff', fontSize:20, fontWeight:'bold' }}&gt;5&lt;/Text&gt;&#10;        &lt;/Box&gt;&#10;        &lt;Box style={{ flex:1 }}&gt;&#10;          &lt;Text style={{ fontSize:20, fontWeight:'bold', color:'#1E3A8A' }}&gt;数据分布缺乏闭环优化&lt;/Text&gt;&#10;          &lt;Text style={{ fontSize:16, color:'#475569', lineHeight:1.5, marginTop:3 }}&gt;已有采集数据中的高失败 Task/Subtask 很少进一步反向影响后续数据采集策略。&lt;/Text&gt;&#10;        &lt;/Box&gt;&#10;      &lt;/Box&gt;&#10;    &lt;/Box&gt;&#10;    &lt;Box style={{ marginTop:16, padding:'14px 18px', background:'#EFF6FF', borderRadius:8, borderLeft:'4px solid #3B82F6' }}&gt;&#10;      &lt;Text style={{ fontSize:16, color:'#1E3A8A', lineHeight:1.5 }}&gt;需要一种能自动生成长程任务、动态管理 Subtask 采集、识别并保留失败数据，并依据历史失败持续调整采集策略的数据采集系统。&lt;/Text&gt;&#10;    &lt;/Box&gt;&#10;  &lt;/Box&gt;&#10;  &lt;Box style={{ height:36, flexDirection:'row', justifyContent:'space-between', alignItems:'center' }}&gt;&#10;    &lt;Text style={{ fontSize:14, color:'#64748B' }}&gt;专利方案汇报&lt;/Text&gt;&#10;    &lt;Text style={{ fontSize:14, color:'#64748B' }}&gt;02 / 0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"/>
          <p:cNvSpPr/>
          <p:nvPr/>
        </p:nvSpPr>
        <p:spPr>
          <a:xfrm rot="0" flipH="0" flipV="0">
            <a:off x="571500" y="190500"/>
            <a:ext cx="11049000" cy="914400"/>
          </a:xfrm>
          <a:custGeom>
            <a:pathLst>
              <a:path w="1160" h="96">
                <a:moveTo>
                  <a:pt x="0" y="93"/>
                </a:moveTo>
                <a:lnTo>
                  <a:pt x="1160" y="93"/>
                </a:lnTo>
                <a:lnTo>
                  <a:pt x="1160" y="96"/>
                </a:lnTo>
                <a:lnTo>
                  <a:pt x="0" y="96"/>
                </a:lnTo>
                <a:close/>
              </a:path>
            </a:pathLst>
          </a:custGeom>
          <a:solidFill>
            <a:srgbClr val="1E3A8A"/>
          </a:solidFill>
          <a:ln/>
        </p:spPr>
        <p:txBody>
          <a:bodyPr/>
          <a:p/>
        </p:txBody>
      </p:sp>
      <p:sp>
        <p:nvSpPr>
          <p:cNvPr id="14" name=""/>
          <p:cNvSpPr/>
          <p:nvPr/>
        </p:nvSpPr>
        <p:spPr>
          <a:xfrm rot="0" flipH="0" flipV="0">
            <a:off x="571500" y="428625"/>
            <a:ext cx="76200" cy="4191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00100" y="447675"/>
            <a:ext cx="19335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E3A8A"/>
                </a:solidFill>
                <a:latin typeface="PingFang SC"/>
                <a:ea typeface="PingFang SC"/>
              </a:rPr>
              <a:t>① </a:t>
            </a:r>
            <a:r>
              <a:rPr lang="zh-CN" sz="2400" b="1">
                <a:solidFill>
                  <a:srgbClr val="1E3A8A"/>
                </a:solidFill>
                <a:latin typeface="PingFang SC"/>
                <a:ea typeface="PingFang SC"/>
              </a:rPr>
              <a:t>背景与痛点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571500" y="1276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723900" y="1352550"/>
            <a:ext cx="85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104900" y="1276350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任务粒度较短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104900" y="1533525"/>
            <a:ext cx="10515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数据多集中于抓取、放置等单一技能，缺乏包含多个连续步骤的长程任务数据。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571500" y="19240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704850" y="2000250"/>
            <a:ext cx="11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104900" y="1924050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缺少</a:t>
            </a:r>
            <a:r>
              <a:rPr lang="en-US" sz="1500" b="1">
                <a:solidFill>
                  <a:srgbClr val="1E3A8A"/>
                </a:solidFill>
                <a:latin typeface="PingFang SC"/>
                <a:ea typeface="PingFang SC"/>
              </a:rPr>
              <a:t> Subtask </a:t>
            </a: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级标注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104900" y="2181225"/>
            <a:ext cx="10515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长程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Episode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通常仅有整体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Task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指令，缺乏各子任务的起止边界、完成与失败状态标注。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571500" y="25717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704850" y="2647950"/>
            <a:ext cx="11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104900" y="2571750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失败数据利用率低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104900" y="2828925"/>
            <a:ext cx="10515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采集一旦失败往往直接废弃整段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Episode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，未保留失败前状态、失败过程及恢复过程。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571500" y="32194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04850" y="3295650"/>
            <a:ext cx="11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1104900" y="3219450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采集过程缺少动态调度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104900" y="3476625"/>
            <a:ext cx="10515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任务通常在采集开始前固定，无法根据执行状态实时调整后续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Subtask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571500" y="38671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04850" y="3943350"/>
            <a:ext cx="11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PingFang SC"/>
                <a:ea typeface="PingFang SC"/>
              </a:rPr>
              <a:t>5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104900" y="3867150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数据分布缺乏闭环优化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104900" y="4124325"/>
            <a:ext cx="10515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已有采集数据中的高失败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Task/Subtask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很少进一步反向影响后续数据采集策略。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609600" y="4552950"/>
            <a:ext cx="11049000" cy="542925"/>
          </a:xfrm>
          <a:prstGeom prst="roundRect">
            <a:avLst>
              <a:gd name="adj" fmla="val 14035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609600" y="4552950"/>
            <a:ext cx="11049000" cy="542925"/>
          </a:xfrm>
          <a:custGeom>
            <a:pathLst>
              <a:path w="1160" h="57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3"/>
                </a:lnTo>
                <a:cubicBezTo>
                  <a:pt x="4" y="55"/>
                  <a:pt x="5" y="57"/>
                  <a:pt x="7" y="57"/>
                </a:cubicBezTo>
                <a:cubicBezTo>
                  <a:pt x="3" y="57"/>
                  <a:pt x="0" y="53"/>
                  <a:pt x="0" y="4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81050" y="4686300"/>
            <a:ext cx="10668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E3A8A"/>
                </a:solidFill>
                <a:latin typeface="PingFang SC"/>
                <a:ea typeface="PingFang SC"/>
              </a:rPr>
              <a:t>需要一种能自动生成长程任务、动态管理</a:t>
            </a:r>
            <a:r>
              <a:rPr lang="en-US" sz="1200">
                <a:solidFill>
                  <a:srgbClr val="1E3A8A"/>
                </a:solidFill>
                <a:latin typeface="PingFang SC"/>
                <a:ea typeface="PingFang SC"/>
              </a:rPr>
              <a:t> Subtask </a:t>
            </a:r>
            <a:r>
              <a:rPr lang="zh-CN" sz="1200">
                <a:solidFill>
                  <a:srgbClr val="1E3A8A"/>
                </a:solidFill>
                <a:latin typeface="PingFang SC"/>
                <a:ea typeface="PingFang SC"/>
              </a:rPr>
              <a:t>采集、识别并保留失败数据，并依据历史失败持续调整采集策略的数据采集系统。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571500" y="641985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专利方案汇报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1144250" y="641985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02 / 08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41" name="" descr="&lt;Slide style={{ width:'1280px', height:'720px', padding:'20px 60px', background:'#FFFFFF', display:'flex', flexDirection:'column', fontFamily:&quot;'PingFang SC','Microsoft YaHei',sans-serif&quot; }}&gt;&#10;  &lt;Box style={{ height:96, flexDirection:'row', alignItems:'center', gap:16, borderBottom:'3px solid #1E3A8A' }}&gt;&#10;    &lt;Box style={{ width:8, height:44, background:'#1E3A8A', borderRadius:4 }} /&gt;&#10;    &lt;Text style={{ fontSize:32, fontWeight:'bold', color:'#1E3A8A' }}&gt;② 方案概述 · 设计理念&lt;/Text&gt;&#10;  &lt;/Box&gt;&#10;  &lt;Box style={{ flex:1, paddingTop:16, position:'relative' }}&gt;&#10;    &lt;Box style={{ position:'absolute', left:24, top:8, bottom:8, width:2, background:'#CBD5E1' }} /&gt;&#10;    &lt;Box style={{ gap:18, paddingLeft:8 }}&gt;&#10;      &lt;Box style={{ flexDirection:'row', gap:14, alignItems:'flex-start' }}&gt;&#10;        &lt;Box style={{ width:34, height:34, borderRadius:17, background:'#3B82F6', alignItems:'center', justifyContent:'center', flexShrink:0 }}&gt;&#10;          &lt;Text style={{ color:'#fff', fontSize:17, fontWeight:'bold' }}&gt;1&lt;/Text&gt;&#10;        &lt;/Box&gt;&#10;        &lt;Box style={{ flex:1 }}&gt;&#10;          &lt;Text style={{ fontSize:20, fontWeight:'bold', color:'#1E3A8A' }}&gt;上层定位：Collection Agent&lt;/Text&gt;&#10;          &lt;Text style={{ fontSize:16, color:'#475569', lineHeight:1.5, marginTop:3 }}&gt;在数据采集流程上层构建 Collection Agent，统筹任务生成、派发、在线监督与采集策略，而非仅自动生成机器人任务。&lt;/Text&gt;&#10;        &lt;/Box&gt;&#10;      &lt;/Box&gt;&#10;      &lt;Box style={{ flexDirection:'row', gap:14, alignItems:'flex-start' }}&gt;&#10;        &lt;Box style={{ width:34, height:34, borderRadius:17, background:'#3B82F6', alignItems:'center', justifyContent:'center', flexShrink:0 }}&gt;&#10;          &lt;Text style={{ color:'#fff', fontSize:17, fontWeight:'bold' }}&gt;2&lt;/Text&gt;&#10;        &lt;/Box&gt;&#10;        &lt;Box style={{ flex:1 }}&gt;&#10;          &lt;Text style={{ fontSize:20, fontWeight:'bold', color:'#1E3A8A' }}&gt;完整数据生产闭环&lt;/Text&gt;&#10;          &lt;Text style={{ fontSize:16, color:'#475569', lineHeight:1.5, marginTop:3 }}&gt;长程Task生成 → Subtask拆分 → 逐Subtask派发 → 在线状态监督 → 失败终止/恢复/重规划 → 结构化标注 → 失败统计 → 后续任务加权采集。&lt;/Text&gt;&#10;        &lt;/Box&gt;&#10;      &lt;/Box&gt;&#10;      &lt;Box style={{ flexDirection:'row', gap:14, alignItems:'flex-start' }}&gt;&#10;        &lt;Box style={{ width:34, height:34, borderRadius:17, background:'#3B82F6', alignItems:'center', justifyContent:'center', flexShrink:0 }}&gt;&#10;          &lt;Text style={{ color:'#fff', fontSize:17, fontWeight:'bold' }}&gt;3&lt;/Text&gt;&#10;        &lt;/Box&gt;&#10;        &lt;Box style={{ flex:1 }}&gt;&#10;          &lt;Text style={{ fontSize:20, fontWeight:'bold', color:'#1E3A8A' }}&gt;三类核心数据&lt;/Text&gt;&#10;          &lt;Text style={{ fontSize:16, color:'#475569', lineHeight:1.5, marginTop:3 }}&gt;同步采集 Success（正常完成）、Failure（在线识别并标注的失败）、Recovery（从失败恢复并重入正常流程）三类数据。&lt;/Text&gt;&#10;        &lt;/Box&gt;&#10;      &lt;/Box&gt;&#10;      &lt;Box style={{ flexDirection:'row', gap:14, alignItems:'flex-start' }}&gt;&#10;        &lt;Box style={{ width:34, height:34, borderRadius:17, background:'#3B82F6', alignItems:'center', justifyContent:'center', flexShrink:0 }}&gt;&#10;          &lt;Text style={{ color:'#fff', fontSize:17, fontWeight:'bold' }}&gt;4&lt;/Text&gt;&#10;        &lt;/Box&gt;&#10;        &lt;Box style={{ flex:1 }}&gt;&#10;          &lt;Text style={{ fontSize:20, fontWeight:'bold', color:'#1E3A8A' }}&gt;结构化长程标注&lt;/Text&gt;&#10;          &lt;Text style={{ fontSize:16, color:'#475569', lineHeight:1.5, marginTop:3 }}&gt;为长程 Task 提供明确的 Subtask 时序边界与状态标注，使长程数据可直接用于训练与评估。&lt;/Text&gt;&#10;        &lt;/Box&gt;&#10;      &lt;/Box&gt;&#10;    &lt;/Box&gt;&#10;  &lt;/Box&gt;&#10;  &lt;Box style={{ padding:'14px 18px', background:'#1E3A8A', borderRadius:10 }}&gt;&#10;    &lt;Text style={{ fontSize:17, color:'#fff', lineHeight:1.55 }}&gt;D = D&lt;span style={{ fontSize:12 }}&gt;success&lt;/span&gt; ∪ D&lt;span style={{ fontSize:12 }}&gt;failure&lt;/span&gt; ∪ D&lt;span style={{ fontSize:12 }}&gt;recovery&lt;/span&gt;&lt;span style={{ color:'#BFDBFE' }}&gt;　— 历史失败反向驱动后续长程数据采集任务的生成分布。&lt;/span&gt;&lt;/Text&gt;&#10;  &lt;/Box&gt;&#10;  &lt;Box style={{ height:36, flexDirection:'row', justifyContent:'space-between', alignItems:'center' }}&gt;&#10;    &lt;Text style={{ fontSize:14, color:'#64748B' }}&gt;专利方案汇报&lt;/Text&gt;&#10;    &lt;Text style={{ fontSize:14, color:'#64748B' }}&gt;03 / 0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571500" y="190500"/>
            <a:ext cx="11049000" cy="914400"/>
          </a:xfrm>
          <a:custGeom>
            <a:pathLst>
              <a:path w="1160" h="96">
                <a:moveTo>
                  <a:pt x="0" y="93"/>
                </a:moveTo>
                <a:lnTo>
                  <a:pt x="1160" y="93"/>
                </a:lnTo>
                <a:lnTo>
                  <a:pt x="1160" y="96"/>
                </a:lnTo>
                <a:lnTo>
                  <a:pt x="0" y="96"/>
                </a:lnTo>
                <a:close/>
              </a:path>
            </a:pathLst>
          </a:custGeom>
          <a:solidFill>
            <a:srgbClr val="1E3A8A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571500" y="428625"/>
            <a:ext cx="76200" cy="4191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00100" y="447675"/>
            <a:ext cx="32004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E3A8A"/>
                </a:solidFill>
                <a:latin typeface="PingFang SC"/>
                <a:ea typeface="PingFang SC"/>
              </a:rPr>
              <a:t>② </a:t>
            </a:r>
            <a:r>
              <a:rPr lang="zh-CN" sz="2400" b="1">
                <a:solidFill>
                  <a:srgbClr val="1E3A8A"/>
                </a:solidFill>
                <a:latin typeface="PingFang SC"/>
                <a:ea typeface="PingFang SC"/>
              </a:rPr>
              <a:t>方案概述</a:t>
            </a:r>
            <a:r>
              <a:rPr lang="en-US" sz="2400" b="1">
                <a:solidFill>
                  <a:srgbClr val="1E3A8A"/>
                </a:solidFill>
                <a:latin typeface="PingFang SC"/>
                <a:ea typeface="PingFang SC"/>
              </a:rPr>
              <a:t> · </a:t>
            </a:r>
            <a:r>
              <a:rPr lang="zh-CN" sz="2400" b="1">
                <a:solidFill>
                  <a:srgbClr val="1E3A8A"/>
                </a:solidFill>
                <a:latin typeface="PingFang SC"/>
                <a:ea typeface="PingFang SC"/>
              </a:rPr>
              <a:t>设计理念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571500" y="5753100"/>
            <a:ext cx="11049000" cy="571500"/>
          </a:xfrm>
          <a:prstGeom prst="roundRect">
            <a:avLst>
              <a:gd name="adj" fmla="val 16667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42950" y="5886450"/>
            <a:ext cx="1070610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75">
                <a:solidFill>
                  <a:srgbClr val="FFFFFF"/>
                </a:solidFill>
                <a:latin typeface="PingFang SC"/>
                <a:ea typeface="PingFang SC"/>
              </a:rPr>
              <a:t>D = D</a:t>
            </a:r>
            <a:r>
              <a:rPr lang="en-US" sz="900">
                <a:solidFill>
                  <a:srgbClr val="FFFFFF"/>
                </a:solidFill>
                <a:latin typeface="PingFang SC"/>
                <a:ea typeface="PingFang SC"/>
              </a:rPr>
              <a:t>success</a:t>
            </a:r>
            <a:r>
              <a:rPr lang="en-US" sz="1275">
                <a:solidFill>
                  <a:srgbClr val="FFFFFF"/>
                </a:solidFill>
                <a:latin typeface="PingFang SC"/>
                <a:ea typeface="PingFang SC"/>
              </a:rPr>
              <a:t> ∪ D</a:t>
            </a:r>
            <a:r>
              <a:rPr lang="en-US" sz="900">
                <a:solidFill>
                  <a:srgbClr val="FFFFFF"/>
                </a:solidFill>
                <a:latin typeface="PingFang SC"/>
                <a:ea typeface="PingFang SC"/>
              </a:rPr>
              <a:t>failure</a:t>
            </a:r>
            <a:r>
              <a:rPr lang="en-US" sz="1275">
                <a:solidFill>
                  <a:srgbClr val="FFFFFF"/>
                </a:solidFill>
                <a:latin typeface="PingFang SC"/>
                <a:ea typeface="PingFang SC"/>
              </a:rPr>
              <a:t> ∪ D</a:t>
            </a:r>
            <a:r>
              <a:rPr lang="en-US" sz="900">
                <a:solidFill>
                  <a:srgbClr val="FFFFFF"/>
                </a:solidFill>
                <a:latin typeface="PingFang SC"/>
                <a:ea typeface="PingFang SC"/>
              </a:rPr>
              <a:t>recovery</a:t>
            </a:r>
            <a:r>
              <a:rPr lang="zh-CN" sz="1275">
                <a:solidFill>
                  <a:srgbClr val="BFDBFE"/>
                </a:solidFill>
                <a:latin typeface="PingFang SC"/>
                <a:ea typeface="PingFang SC"/>
              </a:rPr>
              <a:t>　—</a:t>
            </a:r>
            <a:r>
              <a:rPr lang="en-US" sz="1275">
                <a:solidFill>
                  <a:srgbClr val="BFDBFE"/>
                </a:solidFill>
                <a:latin typeface="PingFang SC"/>
                <a:ea typeface="PingFang SC"/>
              </a:rPr>
              <a:t> </a:t>
            </a:r>
            <a:r>
              <a:rPr lang="zh-CN" sz="1275">
                <a:solidFill>
                  <a:srgbClr val="BFDBFE"/>
                </a:solidFill>
                <a:latin typeface="PingFang SC"/>
                <a:ea typeface="PingFang SC"/>
              </a:rPr>
              <a:t>历史失败反向驱动后续长程数据采集任务的生成分布。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571500" y="641985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专利方案汇报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1144250" y="641985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03 / 08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47700" y="12573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81050" y="1323975"/>
            <a:ext cx="66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104900" y="1257300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上层定位：</a:t>
            </a:r>
            <a:r>
              <a:rPr lang="en-US" sz="1500" b="1">
                <a:solidFill>
                  <a:srgbClr val="1E3A8A"/>
                </a:solidFill>
                <a:latin typeface="PingFang SC"/>
                <a:ea typeface="PingFang SC"/>
              </a:rPr>
              <a:t>Collection Agent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104900" y="1514475"/>
            <a:ext cx="10515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在数据采集流程上层构建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Collection Agent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，统筹任务生成、派发、在线监督与采集策略，而非仅自动生成机器人任务。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647700" y="19621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62000" y="2028825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104900" y="1962150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完整数据生产闭环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104900" y="2219325"/>
            <a:ext cx="10515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长程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Task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生成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→ Subtask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拆分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→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逐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Subtask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派发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→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在线状态监督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→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失败终止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/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恢复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/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重规划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→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结构化标注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→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失败统计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→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后续任务加权采集。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647700" y="26670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62000" y="2733675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104900" y="2667000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三类核心数据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104900" y="2924175"/>
            <a:ext cx="10515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同步采集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Success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（正常完成）、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Failure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（在线识别并标注的失败）、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Recovery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（从失败恢复并重入正常流程）三类数据。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47700" y="33718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762000" y="3438525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104900" y="3371850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结构化长程标注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104900" y="3629025"/>
            <a:ext cx="10515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为长程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Task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提供明确的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Subtask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时序边界与状态标注，使长程数据可直接用于训练与评估。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800100" y="1181100"/>
            <a:ext cx="19050" cy="44958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67" name="" descr="&lt;Slide style={{ width:'1280px', height:'720px', padding:'20px 60px', background:'#FFFFFF', display:'flex', flexDirection:'column', fontFamily:&quot;'PingFang SC','Microsoft YaHei',sans-serif&quot; }}&gt;&#10;  &lt;Box style={{ height:96, flexDirection:'row', alignItems:'center', gap:16, borderBottom:'3px solid #1E3A8A' }}&gt;&#10;    &lt;Box style={{ width:8, height:44, background:'#1E3A8A', borderRadius:4 }} /&gt;&#10;    &lt;Text style={{ fontSize:32, fontWeight:'bold', color:'#1E3A8A' }}&gt;③ 方案概述 · 工作流程&lt;/Text&gt;&#10;  &lt;/Box&gt;&#10;  &lt;Box style={{ flex:1, paddingTop:16, position:'relative' }}&gt;&#10;    &lt;Box style={{ position:'absolute', left:24, top:8, bottom:8, width:2, background:'#CBD5E1' }} /&gt;&#10;    &lt;Box style={{ gap:9, paddingLeft:8 }}&gt;&#10;      &lt;Box style={{ flexDirection:'row', gap:14, alignItems:'flex-start' }}&gt;&#10;        &lt;Box style={{ width:34, height:34, borderRadius:17, background:'#3B82F6', alignItems:'center', justifyContent:'center', flexShrink:0 }}&gt;&#10;          &lt;Text style={{ color:'#fff', fontSize:17, fontWeight:'bold' }}&gt;1&lt;/Text&gt;&#10;        &lt;/Box&gt;&#10;        &lt;Box style={{ flex:1, paddingBottom:4 }}&gt;&#10;          &lt;Text style={{ fontSize:19, fontWeight:'bold', color:'#1E3A8A' }}&gt;生成新颖长程 Task&lt;/Text&gt;&#10;          &lt;Text style={{ fontSize:15, color:'#475569', lineHeight:1.45, marginTop:2 }}&gt;结合环境、机器人能力、历史任务与成败统计，生成具明确最终目标的完整长程任务，并尽量避开历史已采集内容。&lt;/Text&gt;&#10;        &lt;/Box&gt;&#10;      &lt;/Box&gt;&#10;      &lt;Box style={{ flexDirection:'row', gap:14, alignItems:'flex-start' }}&gt;&#10;        &lt;Box style={{ width:34, height:34, borderRadius:17, background:'#3B82F6', alignItems:'center', justifyContent:'center', flexShrink:0 }}&gt;&#10;          &lt;Text style={{ color:'#fff', fontSize:17, fontWeight:'bold' }}&gt;2&lt;/Text&gt;&#10;        &lt;/Box&gt;&#10;        &lt;Box style={{ flex:1, paddingBottom:4 }}&gt;&#10;          &lt;Text style={{ fontSize:19, fontWeight:'bold', color:'#1E3A8A' }}&gt;长程 Task 自动拆分&lt;/Text&gt;&#10;          &lt;Text style={{ fontSize:15, color:'#475569', lineHeight:1.45, marginTop:2 }}&gt;将 Task 拆分为 S1…SN 子任务，按执行顺序逐个派发给采集员，而非一次性下发完整任务。&lt;/Text&gt;&#10;        &lt;/Box&gt;&#10;      &lt;/Box&gt;&#10;      &lt;Box style={{ flexDirection:'row', gap:14, alignItems:'flex-start' }}&gt;&#10;        &lt;Box style={{ width:34, height:34, borderRadius:17, background:'#3B82F6', alignItems:'center', justifyContent:'center', flexShrink:0 }}&gt;&#10;          &lt;Text style={{ color:'#fff', fontSize:17, fontWeight:'bold' }}&gt;3&lt;/Text&gt;&#10;        &lt;/Box&gt;&#10;        &lt;Box style={{ flex:1, paddingBottom:4 }}&gt;&#10;          &lt;Text style={{ fontSize:19, fontWeight:'bold', color:'#1E3A8A' }}&gt;在线监督 Subtask 状态&lt;/Text&gt;&#10;          &lt;Text style={{ fontSize:15, color:'#475569', lineHeight:1.45, marginTop:2 }}&gt;持续分析机器人状态、视觉观测与上下文，实时判定 Executing / Success / Failure。&lt;/Text&gt;&#10;        &lt;/Box&gt;&#10;      &lt;/Box&gt;&#10;      &lt;Box style={{ flexDirection:'row', gap:14, alignItems:'flex-start' }}&gt;&#10;        &lt;Box style={{ width:34, height:34, borderRadius:17, background:'#3B82F6', alignItems:'center', justifyContent:'center', flexShrink:0 }}&gt;&#10;          &lt;Text style={{ color:'#fff', fontSize:17, fontWeight:'bold' }}&gt;4&lt;/Text&gt;&#10;        &lt;/Box&gt;&#10;        &lt;Box style={{ flex:1, paddingBottom:4 }}&gt;&#10;          &lt;Text style={{ fontSize:19, fontWeight:'bold', color:'#1E3A8A' }}&gt;失败后的 Recovery 或 Replanning&lt;/Text&gt;&#10;          &lt;Text style={{ fontSize:15, color:'#475569', lineHeight:1.45, marginTop:2 }}&gt;若可恢复则插入 Recovery Subtask；若原序列无法继续则根据环境重规划剩余 Subtask。&lt;/Text&gt;&#10;        &lt;/Box&gt;&#10;      &lt;/Box&gt;&#10;      &lt;Box style={{ flexDirection:'row', gap:14, alignItems:'flex-start' }}&gt;&#10;        &lt;Box style={{ width:34, height:34, borderRadius:17, background:'#3B82F6', alignItems:'center', justifyContent:'center', flexShrink:0 }}&gt;&#10;          &lt;Text style={{ color:'#fff', fontSize:17, fontWeight:'bold' }}&gt;5&lt;/Text&gt;&#10;        &lt;/Box&gt;&#10;        &lt;Box style={{ flex:1, paddingBottom:4 }}&gt;&#10;          &lt;Text style={{ fontSize:19, fontWeight:'bold', color:'#1E3A8A' }}&gt;保存最终失败 Task&lt;/Text&gt;&#10;          &lt;Text style={{ fontSize:15, color:'#475569', lineHeight:1.45, marginTop:2 }}&gt;多次失败或不可恢复时标记 Failed，但保留成功+失败前+失败+恢复的全轨迹用于训练。&lt;/Text&gt;&#10;        &lt;/Box&gt;&#10;      &lt;/Box&gt;&#10;      &lt;Box style={{ flexDirection:'row', gap:14, alignItems:'flex-start' }}&gt;&#10;        &lt;Box style={{ width:34, height:34, borderRadius:17, background:'#3B82F6', alignItems:'center', justifyContent:'center', flexShrink:0 }}&gt;&#10;          &lt;Text style={{ color:'#fff', fontSize:17, fontWeight:'bold' }}&gt;6&lt;/Text&gt;&#10;        &lt;/Box&gt;&#10;        &lt;Box style={{ flex:1, paddingBottom:4 }}&gt;&#10;          &lt;Text style={{ fontSize:19, fontWeight:'bold', color:'#1E3A8A' }}&gt;Failure-driven Active Collection&lt;/Text&gt;&#10;          &lt;Text style={{ fontSize:15, color:'#475569', lineHeight:1.45, marginTop:2 }}&gt;统计历史失败率，对薄弱 Subtask 提高采样权重，并将其重新组合进不同的新颖长程 Task 定向采集。&lt;/Text&gt;&#10;        &lt;/Box&gt;&#10;      &lt;/Box&gt;&#10;    &lt;/Box&gt;&#10;  &lt;/Box&gt;&#10;  &lt;Box style={{ height:36, flexDirection:'row', justifyContent:'space-between', alignItems:'center' }}&gt;&#10;    &lt;Text style={{ fontSize:14, color:'#64748B' }}&gt;专利方案汇报&lt;/Text&gt;&#10;    &lt;Text style={{ fontSize:14, color:'#64748B' }}&gt;04 / 0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571500" y="190500"/>
            <a:ext cx="11049000" cy="914400"/>
          </a:xfrm>
          <a:custGeom>
            <a:pathLst>
              <a:path w="1160" h="96">
                <a:moveTo>
                  <a:pt x="0" y="93"/>
                </a:moveTo>
                <a:lnTo>
                  <a:pt x="1160" y="93"/>
                </a:lnTo>
                <a:lnTo>
                  <a:pt x="1160" y="96"/>
                </a:lnTo>
                <a:lnTo>
                  <a:pt x="0" y="96"/>
                </a:lnTo>
                <a:close/>
              </a:path>
            </a:pathLst>
          </a:custGeom>
          <a:solidFill>
            <a:srgbClr val="1E3A8A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571500" y="428625"/>
            <a:ext cx="76200" cy="4191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00100" y="447675"/>
            <a:ext cx="32004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E3A8A"/>
                </a:solidFill>
                <a:latin typeface="PingFang SC"/>
                <a:ea typeface="PingFang SC"/>
              </a:rPr>
              <a:t>③ </a:t>
            </a:r>
            <a:r>
              <a:rPr lang="zh-CN" sz="2400" b="1">
                <a:solidFill>
                  <a:srgbClr val="1E3A8A"/>
                </a:solidFill>
                <a:latin typeface="PingFang SC"/>
                <a:ea typeface="PingFang SC"/>
              </a:rPr>
              <a:t>方案概述</a:t>
            </a:r>
            <a:r>
              <a:rPr lang="en-US" sz="2400" b="1">
                <a:solidFill>
                  <a:srgbClr val="1E3A8A"/>
                </a:solidFill>
                <a:latin typeface="PingFang SC"/>
                <a:ea typeface="PingFang SC"/>
              </a:rPr>
              <a:t> · </a:t>
            </a:r>
            <a:r>
              <a:rPr lang="zh-CN" sz="2400" b="1">
                <a:solidFill>
                  <a:srgbClr val="1E3A8A"/>
                </a:solidFill>
                <a:latin typeface="PingFang SC"/>
                <a:ea typeface="PingFang SC"/>
              </a:rPr>
              <a:t>工作流程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571500" y="641985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专利方案汇报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1144250" y="641985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04 / 08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47700" y="12573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81050" y="1323975"/>
            <a:ext cx="66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104900" y="1257300"/>
            <a:ext cx="10515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生成新颖长程</a:t>
            </a: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 Task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104900" y="1495425"/>
            <a:ext cx="105156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475569"/>
                </a:solidFill>
                <a:latin typeface="PingFang SC"/>
                <a:ea typeface="PingFang SC"/>
              </a:rPr>
              <a:t>结合环境、机器人能力、历史任务与成败统计，生成具明确最终目标的完整长程任务，并尽量避开历史已采集内容。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647700" y="18764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762000" y="19431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104900" y="1876425"/>
            <a:ext cx="10515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长程</a:t>
            </a: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 Task </a:t>
            </a: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自动拆分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104900" y="2114550"/>
            <a:ext cx="105156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475569"/>
                </a:solidFill>
                <a:latin typeface="PingFang SC"/>
                <a:ea typeface="PingFang SC"/>
              </a:rPr>
              <a:t>将</a:t>
            </a:r>
            <a:r>
              <a:rPr lang="en-US" sz="1125">
                <a:solidFill>
                  <a:srgbClr val="475569"/>
                </a:solidFill>
                <a:latin typeface="PingFang SC"/>
                <a:ea typeface="PingFang SC"/>
              </a:rPr>
              <a:t> Task </a:t>
            </a:r>
            <a:r>
              <a:rPr lang="zh-CN" sz="1125">
                <a:solidFill>
                  <a:srgbClr val="475569"/>
                </a:solidFill>
                <a:latin typeface="PingFang SC"/>
                <a:ea typeface="PingFang SC"/>
              </a:rPr>
              <a:t>拆分为</a:t>
            </a:r>
            <a:r>
              <a:rPr lang="en-US" sz="1125">
                <a:solidFill>
                  <a:srgbClr val="475569"/>
                </a:solidFill>
                <a:latin typeface="PingFang SC"/>
                <a:ea typeface="PingFang SC"/>
              </a:rPr>
              <a:t> S1…SN </a:t>
            </a:r>
            <a:r>
              <a:rPr lang="zh-CN" sz="1125">
                <a:solidFill>
                  <a:srgbClr val="475569"/>
                </a:solidFill>
                <a:latin typeface="PingFang SC"/>
                <a:ea typeface="PingFang SC"/>
              </a:rPr>
              <a:t>子任务，按执行顺序逐个派发给采集员，而非一次性下发完整任务。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647700" y="24955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62000" y="2562225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1104900" y="2495550"/>
            <a:ext cx="10515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在线监督</a:t>
            </a: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 Subtask </a:t>
            </a: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状态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104900" y="2733675"/>
            <a:ext cx="105156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475569"/>
                </a:solidFill>
                <a:latin typeface="PingFang SC"/>
                <a:ea typeface="PingFang SC"/>
              </a:rPr>
              <a:t>持续分析机器人状态、视觉观测与上下文，实时判定</a:t>
            </a:r>
            <a:r>
              <a:rPr lang="en-US" sz="1125">
                <a:solidFill>
                  <a:srgbClr val="475569"/>
                </a:solidFill>
                <a:latin typeface="PingFang SC"/>
                <a:ea typeface="PingFang SC"/>
              </a:rPr>
              <a:t> Executing / Success / Failure</a:t>
            </a:r>
            <a:r>
              <a:rPr lang="zh-CN" sz="1125">
                <a:solidFill>
                  <a:srgbClr val="475569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47700" y="31146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762000" y="318135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104900" y="3114675"/>
            <a:ext cx="10515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失败后的</a:t>
            </a: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 Recovery </a:t>
            </a: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或</a:t>
            </a: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 Replanning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104900" y="3352800"/>
            <a:ext cx="105156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475569"/>
                </a:solidFill>
                <a:latin typeface="PingFang SC"/>
                <a:ea typeface="PingFang SC"/>
              </a:rPr>
              <a:t>若可恢复则插入</a:t>
            </a:r>
            <a:r>
              <a:rPr lang="en-US" sz="1125">
                <a:solidFill>
                  <a:srgbClr val="475569"/>
                </a:solidFill>
                <a:latin typeface="PingFang SC"/>
                <a:ea typeface="PingFang SC"/>
              </a:rPr>
              <a:t> Recovery Subtask</a:t>
            </a:r>
            <a:r>
              <a:rPr lang="zh-CN" sz="1125">
                <a:solidFill>
                  <a:srgbClr val="475569"/>
                </a:solidFill>
                <a:latin typeface="PingFang SC"/>
                <a:ea typeface="PingFang SC"/>
              </a:rPr>
              <a:t>；若原序列无法继续则根据环境重规划剩余</a:t>
            </a:r>
            <a:r>
              <a:rPr lang="en-US" sz="1125">
                <a:solidFill>
                  <a:srgbClr val="475569"/>
                </a:solidFill>
                <a:latin typeface="PingFang SC"/>
                <a:ea typeface="PingFang SC"/>
              </a:rPr>
              <a:t> Subtask</a:t>
            </a:r>
            <a:r>
              <a:rPr lang="zh-CN" sz="1125">
                <a:solidFill>
                  <a:srgbClr val="475569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647700" y="37338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62000" y="3800475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PingFang SC"/>
                <a:ea typeface="PingFang SC"/>
              </a:rPr>
              <a:t>5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104900" y="3733800"/>
            <a:ext cx="10515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保存最终失败</a:t>
            </a: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 Task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104900" y="3971925"/>
            <a:ext cx="105156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475569"/>
                </a:solidFill>
                <a:latin typeface="PingFang SC"/>
                <a:ea typeface="PingFang SC"/>
              </a:rPr>
              <a:t>多次失败或不可恢复时标记</a:t>
            </a:r>
            <a:r>
              <a:rPr lang="en-US" sz="1125">
                <a:solidFill>
                  <a:srgbClr val="475569"/>
                </a:solidFill>
                <a:latin typeface="PingFang SC"/>
                <a:ea typeface="PingFang SC"/>
              </a:rPr>
              <a:t> Failed</a:t>
            </a:r>
            <a:r>
              <a:rPr lang="zh-CN" sz="1125">
                <a:solidFill>
                  <a:srgbClr val="475569"/>
                </a:solidFill>
                <a:latin typeface="PingFang SC"/>
                <a:ea typeface="PingFang SC"/>
              </a:rPr>
              <a:t>，但保留成功</a:t>
            </a:r>
            <a:r>
              <a:rPr lang="en-US" sz="1125">
                <a:solidFill>
                  <a:srgbClr val="475569"/>
                </a:solidFill>
                <a:latin typeface="PingFang SC"/>
                <a:ea typeface="PingFang SC"/>
              </a:rPr>
              <a:t>+</a:t>
            </a:r>
            <a:r>
              <a:rPr lang="zh-CN" sz="1125">
                <a:solidFill>
                  <a:srgbClr val="475569"/>
                </a:solidFill>
                <a:latin typeface="PingFang SC"/>
                <a:ea typeface="PingFang SC"/>
              </a:rPr>
              <a:t>失败前</a:t>
            </a:r>
            <a:r>
              <a:rPr lang="en-US" sz="1125">
                <a:solidFill>
                  <a:srgbClr val="475569"/>
                </a:solidFill>
                <a:latin typeface="PingFang SC"/>
                <a:ea typeface="PingFang SC"/>
              </a:rPr>
              <a:t>+</a:t>
            </a:r>
            <a:r>
              <a:rPr lang="zh-CN" sz="1125">
                <a:solidFill>
                  <a:srgbClr val="475569"/>
                </a:solidFill>
                <a:latin typeface="PingFang SC"/>
                <a:ea typeface="PingFang SC"/>
              </a:rPr>
              <a:t>失败</a:t>
            </a:r>
            <a:r>
              <a:rPr lang="en-US" sz="1125">
                <a:solidFill>
                  <a:srgbClr val="475569"/>
                </a:solidFill>
                <a:latin typeface="PingFang SC"/>
                <a:ea typeface="PingFang SC"/>
              </a:rPr>
              <a:t>+</a:t>
            </a:r>
            <a:r>
              <a:rPr lang="zh-CN" sz="1125">
                <a:solidFill>
                  <a:srgbClr val="475569"/>
                </a:solidFill>
                <a:latin typeface="PingFang SC"/>
                <a:ea typeface="PingFang SC"/>
              </a:rPr>
              <a:t>恢复的全轨迹用于训练。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647700" y="43529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762000" y="44196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PingFang SC"/>
                <a:ea typeface="PingFang SC"/>
              </a:rPr>
              <a:t>6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104900" y="4352925"/>
            <a:ext cx="10515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Failure-driven Active Collection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104900" y="4591050"/>
            <a:ext cx="105156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475569"/>
                </a:solidFill>
                <a:latin typeface="PingFang SC"/>
                <a:ea typeface="PingFang SC"/>
              </a:rPr>
              <a:t>统计历史失败率，对薄弱</a:t>
            </a:r>
            <a:r>
              <a:rPr lang="en-US" sz="1125">
                <a:solidFill>
                  <a:srgbClr val="475569"/>
                </a:solidFill>
                <a:latin typeface="PingFang SC"/>
                <a:ea typeface="PingFang SC"/>
              </a:rPr>
              <a:t> Subtask </a:t>
            </a:r>
            <a:r>
              <a:rPr lang="zh-CN" sz="1125">
                <a:solidFill>
                  <a:srgbClr val="475569"/>
                </a:solidFill>
                <a:latin typeface="PingFang SC"/>
                <a:ea typeface="PingFang SC"/>
              </a:rPr>
              <a:t>提高采样权重，并将其重新组合进不同的新颖长程</a:t>
            </a:r>
            <a:r>
              <a:rPr lang="en-US" sz="1125">
                <a:solidFill>
                  <a:srgbClr val="475569"/>
                </a:solidFill>
                <a:latin typeface="PingFang SC"/>
                <a:ea typeface="PingFang SC"/>
              </a:rPr>
              <a:t> Task </a:t>
            </a:r>
            <a:r>
              <a:rPr lang="zh-CN" sz="1125">
                <a:solidFill>
                  <a:srgbClr val="475569"/>
                </a:solidFill>
                <a:latin typeface="PingFang SC"/>
                <a:ea typeface="PingFang SC"/>
              </a:rPr>
              <a:t>定向采集。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800100" y="1181100"/>
            <a:ext cx="19050" cy="50673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</p:spTree>
  </p:cSld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99" name="" descr="&lt;Slide style={{ width:'1280px', height:'720px', padding:'20px 60px', background:'#FFFFFF', display:'flex', flexDirection:'column', fontFamily:&quot;'PingFang SC','Microsoft YaHei',sans-serif&quot; }}&gt;&#10;  &lt;Box style={{ height:96, flexDirection:'row', alignItems:'center', gap:16, borderBottom:'3px solid #1E3A8A' }}&gt;&#10;    &lt;Box style={{ width:8, height:44, background:'#1E3A8A', borderRadius:4 }} /&gt;&#10;    &lt;Text style={{ fontSize:32, fontWeight:'bold', color:'#1E3A8A' }}&gt;④ 架构图&lt;/Text&gt;&#10;    &lt;Text style={{ fontSize:15, color:'#64748B', marginLeft:12 }}&gt;两层结构：上层生成长程 Task（占比小）· 下层 Subtask 采集流程（占比大）&lt;/Text&gt;&#10;  &lt;/Box&gt;&#10;  &lt;Box style={{ flex:1, paddingTop:8 }}&gt;&#10;    &lt;svg viewBox=&quot;0 0 1180 660&quot; width=&quot;100%&quot; height=&quot;552&quot; preserveAspectRatio=&quot;xMidYMid meet&quot; style={{ display:'block' }}&gt;&#10;      &lt;defs&gt;&#10;        &lt;marker id=&quot;ah&quot; markerWidth=&quot;9&quot; markerHeight=&quot;9&quot; refX=&quot;7&quot; refY=&quot;3&quot; orient=&quot;auto&quot; markerUnits=&quot;strokeWidth&quot;&gt;&#10;          &lt;path d=&quot;M0,0 L7,3 L0,6 Z&quot; fill=&quot;#1E3A8A&quot; /&gt;&#10;        &lt;/marker&gt;&#10;        &lt;marker id=&quot;ahB&quot; markerWidth=&quot;9&quot; markerHeight=&quot;9&quot; refX=&quot;7&quot; refY=&quot;3&quot; orient=&quot;auto&quot; markerUnits=&quot;strokeWidth&quot;&gt;&#10;          &lt;path d=&quot;M0,0 L7,3 L0,6 Z&quot; fill=&quot;#3B82F6&quot; /&gt;&#10;        &lt;/marker&gt;&#10;        &lt;marker id=&quot;ahA&quot; markerWidth=&quot;9&quot; markerHeight=&quot;9&quot; refX=&quot;7&quot; refY=&quot;3&quot; orient=&quot;auto&quot; markerUnits=&quot;strokeWidth&quot;&gt;&#10;          &lt;path d=&quot;M0,0 L7,3 L0,6 Z&quot; fill=&quot;#F59E0B&quot; /&gt;&#10;        &lt;/marker&gt;&#10;      &lt;/defs&gt;&#10;&#10;      {/* 两层背景带 */}&#10;      &lt;rect x=&quot;8&quot; y=&quot;8&quot; width=&quot;1164&quot; height=&quot;150&quot; rx=&quot;12&quot; fill=&quot;#F8FAFC&quot; /&gt;&#10;      &lt;rect x=&quot;8&quot; y=&quot;166&quot; width=&quot;1164&quot; height=&quot;486&quot; rx=&quot;12&quot; fill=&quot;#EEF4FF&quot; /&gt;&#10;&#10;      {/* 层标题 */}&#10;      &lt;text x=&quot;24&quot; y=&quot;28&quot; fontSize=&quot;13&quot; fontWeight=&quot;bold&quot; fill=&quot;#64748B&quot; fontFamily=&quot;'PingFang SC','Microsoft YaHei',sans-serif&quot;&gt;① 长程 Task 生成层（上层 · 占比小）&lt;/text&gt;&#10;      &lt;text x=&quot;24&quot; y=&quot;186&quot; fontSize=&quot;13&quot; fontWeight=&quot;bold&quot; fill=&quot;#1E3A8A&quot; fontFamily=&quot;'PingFang SC','Microsoft YaHei',sans-serif&quot;&gt;② Subtask 具体采集流程（下层 · 占比大）&lt;/text&gt;&#10;&#10;      {/* ===== 箭头 ===== */}&#10;      &lt;g fill=&quot;none&quot;&gt;&#10;        {/* 上层主链 */}&#10;        &lt;path d=&quot;M234,88 L330,88&quot; stroke=&quot;#1E3A8A&quot; strokeWidth=&quot;2.5&quot; markerEnd=&quot;url(#ah)&quot; /&gt;&#10;        &lt;path d=&quot;M520,88 L650,88&quot; stroke=&quot;#1E3A8A&quot; strokeWidth=&quot;2.5&quot; markerEnd=&quot;url(#ah)&quot; /&gt;&#10;        {/* 上层 Dataset 外环（琥珀虚线，生成 → CA） */}&#10;        &lt;path d=&quot;M890,72 C985,30 610,18 520,52&quot; stroke=&quot;#F59E0B&quot; strokeWidth=&quot;3&quot; strokeDasharray=&quot;7 5&quot; markerEnd=&quot;url(#ahA)&quot; /&gt;&#10;&#10;        {/* 下层主干（纵向直线） */}&#10;        &lt;path d=&quot;M590,244 L590,268&quot; stroke=&quot;#3B82F6&quot; strokeWidth=&quot;2.5&quot; markerEnd=&quot;url(#ahB)&quot; /&gt;&#10;        &lt;path d=&quot;M590,312 L590,336&quot; stroke=&quot;#3B82F6&quot; strokeWidth=&quot;2.5&quot; markerEnd=&quot;url(#ahB)&quot; /&gt;&#10;        &lt;path d=&quot;M590,380 L590,410&quot; stroke=&quot;#3B82F6&quot; strokeWidth=&quot;2.5&quot; markerEnd=&quot;url(#ahB)&quot; /&gt;&#10;        {/* 状态决策 → 成功 / 失败 */}&#10;        &lt;path d=&quot;M548,447 L470,514&quot; stroke=&quot;#3B82F6&quot; strokeWidth=&quot;2.5&quot; markerEnd=&quot;url(#ahB)&quot; /&gt;&#10;        &lt;path d=&quot;M632,447 L710,514&quot; stroke=&quot;#3B82F6&quot; strokeWidth=&quot;2.5&quot; markerEnd=&quot;url(#ahB)&quot; /&gt;&#10;        {/* 失败 → 回派发（虚线） */}&#10;        &lt;path d=&quot;M700,536 C420,580 370,420 430,312&quot; stroke=&quot;#3B82F6&quot; strokeWidth=&quot;2&quot; strokeDasharray=&quot;6 5&quot; markerEnd=&quot;url(#ahB)&quot; /&gt;&#10;        {/* 成功 → 上行 Dataset 外环 → 上层 CA */}&#10;        &lt;path d=&quot;M480,536 C480,210 540,30 425,52&quot; stroke=&quot;#F59E0B&quot; strokeWidth=&quot;3&quot; strokeDasharray=&quot;7 5&quot; markerEnd=&quot;url(#ahA)&quot; /&gt;&#10;      &lt;/g&gt;&#10;&#10;      {/* ===== 上层节点 ===== */}&#10;      &lt;g fontFamily=&quot;'PingFang SC','Microsoft YaHei',sans-serif&quot; fontSize=&quot;13&quot;&gt;&#10;        &lt;rect x=&quot;24&quot; y=&quot;70&quot; width=&quot;210&quot; height=&quot;36&quot; rx=&quot;6&quot; fill=&quot;#EEF2FF&quot; stroke=&quot;#1E3A8A&quot; strokeWidth=&quot;2&quot; /&gt;&#10;        &lt;text x=&quot;129&quot; y=&quot;93&quot; fill=&quot;#1A1A1A&quot; textAnchor=&quot;middle&quot;&gt;环境 / 历史库 / 失败率&lt;/text&gt;&#10;&#10;        &lt;rect x=&quot;330&quot; y=&quot;70&quot; width=&quot;190&quot; height=&quot;36&quot; rx=&quot;6&quot; fill=&quot;#1E3A8A&quot; stroke=&quot;#1E3A8A&quot; strokeWidth=&quot;2&quot; /&gt;&#10;        &lt;text x=&quot;425&quot; y=&quot;93&quot; fill=&quot;#FFFFFF&quot; textAnchor=&quot;middle&quot; fontWeight=&quot;bold&quot;&gt;Collection Agent&lt;/text&gt;&#10;&#10;        &lt;rect x=&quot;650&quot; y=&quot;70&quot; width=&quot;240&quot; height=&quot;36&quot; rx=&quot;6&quot; fill=&quot;#EEF2FF&quot; stroke=&quot;#1E3A8A&quot; strokeWidth=&quot;2&quot; /&gt;&#10;        &lt;text x=&quot;770&quot; y=&quot;93&quot; fill=&quot;#1A1A1A&quot; textAnchor=&quot;middle&quot; fontWeight=&quot;bold&quot;&gt;生成新颖长程 Task&lt;/text&gt;&#10;&#10;        {/* ===== 下层节点 ===== */}&#10;        &lt;rect x=&quot;430&quot; y=&quot;200&quot; width=&quot;320&quot; height=&quot;44&quot; rx=&quot;8&quot; fill=&quot;#EFF6FF&quot; stroke=&quot;#3B82F6&quot; strokeWidth=&quot;2&quot; /&gt;&#10;        &lt;text x=&quot;590&quot; y=&quot;227&quot; fill=&quot;#1A1A1A&quot; textAnchor=&quot;middle&quot; fontWeight=&quot;bold&quot;&gt;长程 Task 分解：Subtask 序列 S1, S2, …, Sn&lt;/text&gt;&#10;&#10;        &lt;rect x=&quot;430&quot; y=&quot;268&quot; width=&quot;320&quot; height=&quot;44&quot; rx=&quot;8&quot; fill=&quot;#EFF6FF&quot; stroke=&quot;#3B82F6&quot; strokeWidth=&quot;2&quot; /&gt;&#10;        &lt;text x=&quot;590&quot; y=&quot;295&quot; fill=&quot;#1A1A1A&quot; textAnchor=&quot;middle&quot;&gt;向采集员派发并执行 Subtask&lt;/text&gt;&#10;&#10;        &lt;rect x=&quot;430&quot; y=&quot;336&quot; width=&quot;320&quot; height=&quot;44&quot; rx=&quot;8&quot; fill=&quot;#EFF6FF&quot; stroke=&quot;#3B82F6&quot; strokeWidth=&quot;2&quot; /&gt;&#10;        &lt;text x=&quot;590&quot; y=&quot;363&quot; fill=&quot;#1A1A1A&quot; textAnchor=&quot;middle&quot;&gt;Agent 在线监督执行状态&lt;/text&gt;&#10;&#10;        {/* 状态决策菱形 */}&#10;        &lt;polygon points=&quot;590,410 650,440 590,470 530,440&quot; fill=&quot;#FFFFFF&quot; stroke=&quot;#3B82F6&quot; strokeWidth=&quot;2&quot; /&gt;&#10;        &lt;text x=&quot;590&quot; y=&quot;444&quot; fill=&quot;#1A1A1A&quot; textAnchor=&quot;middle&quot; fontSize=&quot;11&quot;&gt;状态&lt;/text&gt;&#10;&#10;        {/* 成功分支 */}&#10;        &lt;rect x=&quot;180&quot; y=&quot;514&quot; width=&quot;300&quot; height=&quot;44&quot; rx=&quot;8&quot; fill=&quot;#EEF2FF&quot; stroke=&quot;#1E3A8A&quot; strokeWidth=&quot;2&quot; /&gt;&#10;        &lt;text x=&quot;330&quot; y=&quot;541&quot; fill=&quot;#1A1A1A&quot; textAnchor=&quot;middle&quot; fontWeight=&quot;bold&quot;&gt;成功 → 保存完整长程数据&lt;/text&gt;&#10;&#10;        {/* 失败分支 */}&#10;        &lt;rect x=&quot;700&quot; y=&quot;514&quot; width=&quot;300&quot; height=&quot;44&quot; rx=&quot;8&quot; fill=&quot;#EFF6FF&quot; stroke=&quot;#3B82F6&quot; strokeWidth=&quot;2&quot; /&gt;&#10;        &lt;text x=&quot;850&quot; y=&quot;541&quot; fill=&quot;#1A1A1A&quot; textAnchor=&quot;middle&quot;&gt;失败 → Recovery / 重规划 → 回派发&lt;/text&gt;&#10;      &lt;/g&gt;&#10;&#10;      {/* 环路标注 */}&#10;      &lt;text x=&quot;770&quot; y=&quot;32&quot; fontSize=&quot;11&quot; fontWeight=&quot;bold&quot; fill=&quot;#F59E0B&quot; textAnchor=&quot;middle&quot; fontFamily=&quot;'PingFang SC','Microsoft YaHei',sans-serif&quot;&gt;Dataset 外环&lt;/text&gt;&#10;      &lt;text x=&quot;300&quot; y=&quot;575&quot; fontSize=&quot;11&quot; fontWeight=&quot;bold&quot; fill=&quot;#3B82F6&quot; textAnchor=&quot;middle&quot; fontFamily=&quot;'PingFang SC','Microsoft YaHei',sans-serif&quot;&gt;Task 内环&lt;/text&gt;&#10;      &lt;text x=&quot;560&quot; y=&quot;250&quot; fontSize=&quot;11&quot; fontWeight=&quot;bold&quot; fill=&quot;#F59E0B&quot; textAnchor=&quot;middle&quot; fontFamily=&quot;'PingFang SC','Microsoft YaHei',sans-serif&quot;&gt;Dataset 外环&lt;/text&gt;&#10;    &lt;/svg&gt;&#10;  &lt;/Box&gt;&#10;  &lt;Box style={{ height:36, flexDirection:'row', justifyContent:'space-between', alignItems:'center' }}&gt;&#10;    &lt;Text style={{ fontSize:14, color:'#64748B' }}&gt;专利方案汇报&lt;/Text&gt;&#10;    &lt;Text style={{ fontSize:14, color:'#64748B' }}&gt;05 / 0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571500" y="190500"/>
            <a:ext cx="11049000" cy="914400"/>
          </a:xfrm>
          <a:custGeom>
            <a:pathLst>
              <a:path w="1160" h="96">
                <a:moveTo>
                  <a:pt x="0" y="93"/>
                </a:moveTo>
                <a:lnTo>
                  <a:pt x="1160" y="93"/>
                </a:lnTo>
                <a:lnTo>
                  <a:pt x="1160" y="96"/>
                </a:lnTo>
                <a:lnTo>
                  <a:pt x="0" y="96"/>
                </a:lnTo>
                <a:close/>
              </a:path>
            </a:pathLst>
          </a:custGeom>
          <a:solidFill>
            <a:srgbClr val="1E3A8A"/>
          </a:solidFill>
          <a:ln/>
        </p:spPr>
        <p:txBody>
          <a:bodyPr/>
          <a:p/>
        </p:txBody>
      </p:sp>
      <p:sp>
        <p:nvSpPr>
          <p:cNvPr id="102" name=""/>
          <p:cNvSpPr/>
          <p:nvPr/>
        </p:nvSpPr>
        <p:spPr>
          <a:xfrm rot="0" flipH="0" flipV="0">
            <a:off x="571500" y="428625"/>
            <a:ext cx="76200" cy="4191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800100" y="447675"/>
            <a:ext cx="13239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E3A8A"/>
                </a:solidFill>
                <a:latin typeface="PingFang SC"/>
                <a:ea typeface="PingFang SC"/>
              </a:rPr>
              <a:t>④ </a:t>
            </a:r>
            <a:r>
              <a:rPr lang="zh-CN" sz="2400" b="1">
                <a:solidFill>
                  <a:srgbClr val="1E3A8A"/>
                </a:solidFill>
                <a:latin typeface="PingFang SC"/>
                <a:ea typeface="PingFang SC"/>
              </a:rPr>
              <a:t>架构图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2390775" y="552450"/>
            <a:ext cx="497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两层结构：上层生成长程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 Task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（占比小）·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 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下层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 Subtask 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采集流程（占比大）</a:t>
            </a:r>
            <a:endParaRPr/>
          </a:p>
        </p:txBody>
      </p:sp>
      <p:pic>
        <p:nvPicPr>
          <p:cNvPr id="1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1181100"/>
            <a:ext cx="11049000" cy="5257800"/>
          </a:xfrm>
          <a:prstGeom prst="rect">
            <a:avLst/>
          </a:prstGeom>
          <a:ln/>
        </p:spPr>
      </p:pic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571500" y="653415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专利方案汇报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1144250" y="653415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05 / 08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08" name="" descr="&lt;Slide style={{ width:'1280px', height:'720px', padding:'20px 60px', background:'#FFFFFF', display:'flex', flexDirection:'column', fontFamily:&quot;'PingFang SC','Microsoft YaHei',sans-serif&quot; }}&gt;&#10;  &lt;Box style={{ height:96, flexDirection:'row', alignItems:'center', gap:16, borderBottom:'3px solid #1E3A8A' }}&gt;&#10;    &lt;Box style={{ width:8, height:44, background:'#1E3A8A', borderRadius:4 }} /&gt;&#10;    &lt;Text style={{ fontSize:32, fontWeight:'bold', color:'#1E3A8A' }}&gt;⑤ 专利可取证性&lt;/Text&gt;&#10;  &lt;/Box&gt;&#10;  &lt;Box style={{ flex:1, paddingTop:16, position:'relative' }}&gt;&#10;    &lt;Box style={{ position:'absolute', left:24, top:8, bottom:8, width:2, background:'#CBD5E1' }} /&gt;&#10;    &lt;Box style={{ gap:18, paddingLeft:8 }}&gt;&#10;      &lt;Box style={{ flexDirection:'row', gap:14, alignItems:'flex-start' }}&gt;&#10;        &lt;Box style={{ width:34, height:34, borderRadius:17, background:'#3B82F6', alignItems:'center', justifyContent:'center', flexShrink:0 }}&gt;&#10;          &lt;Text style={{ color:'#fff', fontSize:17, fontWeight:'bold' }}&gt;1&lt;/Text&gt;&#10;        &lt;/Box&gt;&#10;        &lt;Box style={{ flex:1 }}&gt;&#10;          &lt;Text style={{ fontSize:20, fontWeight:'bold', color:'#1E3A8A' }}&gt;5.1 Task / Subtask 指令可取证&lt;/Text&gt;&#10;          &lt;Text style={{ fontSize:16, color:'#475569', lineHeight:1.5, marginTop:3 }}&gt;系统向采集终端下发 global_task / current_subtask / subtask_id，可从采集软件 UI、API 请求、网络通信、数据集 metadata 与操作日志确认长程→Subtask 的动态派发机制。&lt;/Text&gt;&#10;        &lt;/Box&gt;&#10;      &lt;/Box&gt;&#10;      &lt;Box style={{ flexDirection:'row', gap:14, alignItems:'flex-start' }}&gt;&#10;        &lt;Box style={{ width:34, height:34, borderRadius:17, background:'#3B82F6', alignItems:'center', justifyContent:'center', flexShrink:0 }}&gt;&#10;          &lt;Text style={{ color:'#fff', fontSize:17, fontWeight:'bold' }}&gt;2&lt;/Text&gt;&#10;        &lt;/Box&gt;&#10;        &lt;Box style={{ flex:1 }}&gt;&#10;          &lt;Text style={{ fontSize:20, fontWeight:'bold', color:'#1E3A8A' }}&gt;5.2 Subtask 状态监督可取证&lt;/Text&gt;&#10;          &lt;Text style={{ fontSize:16, color:'#475569', lineHeight:1.5, marginTop:3 }}&gt;数据中自然出现 subtask_start / end / status / failure_timestamp / failure_reason，可从公开训练集、数据格式、SDK 或演示判断是否存在 Executing / Success / Failure 在线检测。&lt;/Text&gt;&#10;        &lt;/Box&gt;&#10;      &lt;/Box&gt;&#10;      &lt;Box style={{ flexDirection:'row', gap:14, alignItems:'flex-start' }}&gt;&#10;        &lt;Box style={{ width:34, height:34, borderRadius:17, background:'#3B82F6', alignItems:'center', justifyContent:'center', flexShrink:0 }}&gt;&#10;          &lt;Text style={{ color:'#fff', fontSize:17, fontWeight:'bold' }}&gt;3&lt;/Text&gt;&#10;        &lt;/Box&gt;&#10;        &lt;Box style={{ flex:1 }}&gt;&#10;          &lt;Text style={{ fontSize:20, fontWeight:'bold', color:'#1E3A8A' }}&gt;5.3 Failure / Recovery 数据可取证&lt;/Text&gt;&#10;          &lt;Text style={{ fontSize:16, color:'#475569', lineHeight:1.5, marginTop:3 }}&gt;采用本方案时，数据中出现 正常→Failure→Recovery→Continue 或 Failure→Replanning→新序列 的轨迹，可从 Episode 与 Task history 中反向识别。&lt;/Text&gt;&#10;        &lt;/Box&gt;&#10;      &lt;/Box&gt;&#10;      &lt;Box style={{ flexDirection:'row', gap:14, alignItems:'flex-start' }}&gt;&#10;        &lt;Box style={{ width:34, height:34, borderRadius:17, background:'#3B82F6', alignItems:'center', justifyContent:'center', flexShrink:0 }}&gt;&#10;          &lt;Text style={{ color:'#fff', fontSize:17, fontWeight:'bold' }}&gt;4&lt;/Text&gt;&#10;        &lt;/Box&gt;&#10;        &lt;Box style={{ flex:1 }}&gt;&#10;          &lt;Text style={{ fontSize:20, fontWeight:'bold', color:'#1E3A8A' }}&gt;5.4 Failure-driven Sampling 可取证&lt;/Text&gt;&#10;          &lt;Text style={{ fontSize:16, color:'#475569', lineHeight:1.5, marginTop:3 }}&gt;若产品公开数据调度算法、Task 生成 API、统计 Dashboard 或训练数据构成，则可判断历史失败率是否参与下一轮任务生成与采样权重计算——适合作为从属权利要求与侵权识别特征。&lt;/Text&gt;&#10;        &lt;/Box&gt;&#10;      &lt;/Box&gt;&#10;    &lt;/Box&gt;&#10;  &lt;/Box&gt;&#10;  &lt;Box style={{ height:36, flexDirection:'row', justifyContent:'space-between', alignItems:'center' }}&gt;&#10;    &lt;Text style={{ fontSize:14, color:'#64748B' }}&gt;专利方案汇报&lt;/Text&gt;&#10;    &lt;Text style={{ fontSize:14, color:'#64748B' }}&gt;06 / 0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0" name=""/>
          <p:cNvSpPr/>
          <p:nvPr/>
        </p:nvSpPr>
        <p:spPr>
          <a:xfrm rot="0" flipH="0" flipV="0">
            <a:off x="571500" y="190500"/>
            <a:ext cx="11049000" cy="914400"/>
          </a:xfrm>
          <a:custGeom>
            <a:pathLst>
              <a:path w="1160" h="96">
                <a:moveTo>
                  <a:pt x="0" y="93"/>
                </a:moveTo>
                <a:lnTo>
                  <a:pt x="1160" y="93"/>
                </a:lnTo>
                <a:lnTo>
                  <a:pt x="1160" y="96"/>
                </a:lnTo>
                <a:lnTo>
                  <a:pt x="0" y="96"/>
                </a:lnTo>
                <a:close/>
              </a:path>
            </a:pathLst>
          </a:custGeom>
          <a:solidFill>
            <a:srgbClr val="1E3A8A"/>
          </a:solidFill>
          <a:ln/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571500" y="428625"/>
            <a:ext cx="76200" cy="4191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00100" y="447675"/>
            <a:ext cx="22383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E3A8A"/>
                </a:solidFill>
                <a:latin typeface="PingFang SC"/>
                <a:ea typeface="PingFang SC"/>
              </a:rPr>
              <a:t>⑤ </a:t>
            </a:r>
            <a:r>
              <a:rPr lang="zh-CN" sz="2400" b="1">
                <a:solidFill>
                  <a:srgbClr val="1E3A8A"/>
                </a:solidFill>
                <a:latin typeface="PingFang SC"/>
                <a:ea typeface="PingFang SC"/>
              </a:rPr>
              <a:t>专利可取证性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571500" y="641985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专利方案汇报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1144250" y="641985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06 / 08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647700" y="12573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81050" y="1323975"/>
            <a:ext cx="66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104900" y="1257300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3A8A"/>
                </a:solidFill>
                <a:latin typeface="PingFang SC"/>
                <a:ea typeface="PingFang SC"/>
              </a:rPr>
              <a:t>5.1 Task / Subtask </a:t>
            </a: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指令可取证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104900" y="1514475"/>
            <a:ext cx="105156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系统向采集终端下发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global_task / current_subtask / subtask_id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，可从采集软件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UI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、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API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请求、网络通信、数据集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metadata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与操作日志确认长程→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Subtask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的动态派发机制。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647700" y="22383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762000" y="230505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1104900" y="2238375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3A8A"/>
                </a:solidFill>
                <a:latin typeface="PingFang SC"/>
                <a:ea typeface="PingFang SC"/>
              </a:rPr>
              <a:t>5.2 Subtask </a:t>
            </a: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状态监督可取证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104900" y="2495550"/>
            <a:ext cx="105156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数据中自然出现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subtask_start / end / status / failure_timestamp / failure_reason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，可从公开训练集、数据格式、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SDK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或演示判断是否存在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Executing / Success / Failure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在线检测。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647700" y="32194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62000" y="3286125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104900" y="3219450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3A8A"/>
                </a:solidFill>
                <a:latin typeface="PingFang SC"/>
                <a:ea typeface="PingFang SC"/>
              </a:rPr>
              <a:t>5.3 Failure / Recovery </a:t>
            </a: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数据可取证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104900" y="3476625"/>
            <a:ext cx="10515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采用本方案时，数据中出现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正常→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Failure→Recovery→Continue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或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Failure→Replanning→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新序列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的轨迹，可从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Episode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与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Task history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中反向识别。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647700" y="39243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62000" y="3990975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104900" y="3924300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3A8A"/>
                </a:solidFill>
                <a:latin typeface="PingFang SC"/>
                <a:ea typeface="PingFang SC"/>
              </a:rPr>
              <a:t>5.4 Failure-driven Sampling </a:t>
            </a: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可取证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104900" y="4181475"/>
            <a:ext cx="105156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若产品公开数据调度算法、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Task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生成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API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、统计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Dashboard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或训练数据构成，则可判断历史失败率是否参与下一轮任务生成与采样权重计算——适合作为从属权利要求与侵权识别特征。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800100" y="1181100"/>
            <a:ext cx="19050" cy="50673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32" name="" descr="&lt;Slide style={{ width:'1280px', height:'720px', padding:'20px 60px', background:'#FFFFFF', display:'flex', flexDirection:'column', fontFamily:&quot;'PingFang SC','Microsoft YaHei',sans-serif&quot; }}&gt;&#10;  &lt;Box style={{ height:96, flexDirection:'row', alignItems:'center', gap:16, borderBottom:'3px solid #1E3A8A' }}&gt;&#10;    &lt;Box style={{ width:8, height:44, background:'#1E3A8A', borderRadius:4 }} /&gt;&#10;    &lt;Text style={{ fontSize:32, fontWeight:'bold', color:'#1E3A8A' }}&gt;⑥ 创新点与专利价值&lt;/Text&gt;&#10;  &lt;/Box&gt;&#10;  &lt;Box style={{ flex:1, paddingTop:16, display:'flex', flexDirection:'column' }}&gt;&#10;    &lt;Box style={{ flex:1, position:'relative' }}&gt;&#10;      &lt;Box style={{ position:'absolute', left:24, top:8, bottom:8, width:2, background:'#CBD5E1' }} /&gt;&#10;      &lt;Box style={{ gap:14, paddingLeft:8 }}&gt;&#10;        &lt;Box style={{ flexDirection:'row', gap:14, alignItems:'flex-start' }}&gt;&#10;          &lt;Box style={{ width:34, height:34, borderRadius:17, background:'#3B82F6', alignItems:'center', justifyContent:'center', flexShrink:0 }}&gt;&#10;            &lt;Text style={{ color:'#fff', fontSize:17, fontWeight:'bold' }}&gt;1&lt;/Text&gt;&#10;          &lt;/Box&gt;&#10;          &lt;Box style={{ flex:1 }}&gt;&#10;            &lt;Text style={{ fontSize:20, fontWeight:'bold', color:'#1E3A8A' }}&gt;Agent 驱动的新颖长程 Task 数据生成&lt;/Text&gt;&#10;            &lt;Text style={{ fontSize:16, color:'#475569', lineHeight:1.5, marginTop:3 }}&gt;不同于单一抓取/放置任务，主动构造具多个连续状态转换与最终目标的完整长程任务，增加长程 VLA/VLM Planner 所需复杂训练数据。&lt;/Text&gt;&#10;          &lt;/Box&gt;&#10;        &lt;/Box&gt;&#10;        &lt;Box style={{ flexDirection:'row', gap:14, alignItems:'flex-start' }}&gt;&#10;          &lt;Box style={{ width:34, height:34, borderRadius:17, background:'#3B82F6', alignItems:'center', justifyContent:'center', flexShrink:0 }}&gt;&#10;            &lt;Text style={{ color:'#fff', fontSize:17, fontWeight:'bold' }}&gt;2&lt;/Text&gt;&#10;          &lt;/Box&gt;&#10;          &lt;Box style={{ flex:1 }}&gt;&#10;            &lt;Text style={{ fontSize:20, fontWeight:'bold', color:'#1E3A8A' }}&gt;面向数据采集的 Subtask Orchestration&lt;/Text&gt;&#10;            &lt;Text style={{ fontSize:16, color:'#475569', lineHeight:1.5, marginTop:3 }}&gt;Task 分解的目的不是单纯辅助机器人执行，而是控制人工数据采集过程，同时自动产生具有 Subtask Boundary 的长程训练数据资产。&lt;/Text&gt;&#10;          &lt;/Box&gt;&#10;        &lt;/Box&gt;&#10;        &lt;Box style={{ flexDirection:'row', gap:14, alignItems:'flex-start' }}&gt;&#10;          &lt;Box style={{ width:34, height:34, borderRadius:17, background:'#3B82F6', alignItems:'center', justifyContent:'center', flexShrink:0 }}&gt;&#10;            &lt;Text style={{ color:'#fff', fontSize:17, fontWeight:'bold' }}&gt;3&lt;/Text&gt;&#10;          &lt;/Box&gt;&#10;          &lt;Box style={{ flex:1 }}&gt;&#10;            &lt;Text style={{ fontSize:20, fontWeight:'bold', color:'#1E3A8A' }}&gt;在线 Failure-aware 数据采集&lt;/Text&gt;&#10;            &lt;Text style={{ fontSize:16, color:'#475569', lineHeight:1.5, marginTop:3 }}&gt;Agent 在 Subtask 执行中主动识别失败并即时终止，把&quot;采集事故&quot;转化为具精确边界与状态标签的 Failure 训练数据。&lt;/Text&gt;&#10;          &lt;/Box&gt;&#10;        &lt;/Box&gt;&#10;        &lt;Box style={{ flexDirection:'row', gap:14, alignItems:'flex-start' }}&gt;&#10;          &lt;Box style={{ width:34, height:34, borderRadius:17, background:'#3B82F6', alignItems:'center', justifyContent:'center', flexShrink:0 }}&gt;&#10;            &lt;Text style={{ color:'#fff', fontSize:17, fontWeight:'bold' }}&gt;4&lt;/Text&gt;&#10;          &lt;/Box&gt;&#10;          &lt;Box style={{ flex:1 }}&gt;&#10;            &lt;Text style={{ fontSize:20, fontWeight:'bold', color:'#1E3A8A' }}&gt;Recovery / Replanning 数据自动产生&lt;/Text&gt;&#10;            &lt;Text style={{ fontSize:16, color:'#475569', lineHeight:1.5, marginTop:3 }}&gt;失败之后并非简单重启 Episode，而是插入 Recovery Subtask 或重规划剩余 Subtask，主动构造稀缺的 Failure→Recovery→Continue 长程数据。&lt;/Text&gt;&#10;          &lt;/Box&gt;&#10;        &lt;/Box&gt;&#10;        &lt;Box style={{ flexDirection:'row', gap:14, alignItems:'flex-start' }}&gt;&#10;          &lt;Box style={{ width:34, height:34, borderRadius:17, background:'#3B82F6', alignItems:'center', justifyContent:'center', flexShrink:0 }}&gt;&#10;            &lt;Text style={{ color:'#fff', fontSize:17, fontWeight:'bold' }}&gt;5&lt;/Text&gt;&#10;          &lt;/Box&gt;&#10;          &lt;Box style={{ flex:1 }}&gt;&#10;            &lt;Text style={{ fontSize:20, fontWeight:'bold', color:'#1E3A8A' }}&gt;Failure-driven Active Collection&lt;/Text&gt;&#10;            &lt;Text style={{ fontSize:16, color:'#475569', lineHeight:1.5, marginTop:3 }}&gt;历史失败不是采集副产品，而是下一轮 Task 生成的控制信号，自动加强机器人薄弱能力对应的数据覆盖。&lt;/Text&gt;&#10;          &lt;/Box&gt;&#10;        &lt;/Box&gt;&#10;      &lt;/Box&gt;&#10;    &lt;/Box&gt;&#10;    &lt;Box style={{ marginTop:6, padding:'14px 18px', background:'#1E3A8A', borderRadius:10 }}&gt;&#10;      &lt;Text style={{ fontSize:16, color:'#fff', lineHeight:1.55 }}&gt;综合价值：将 Task 生成、Subtask 采集、Failure 检测、Recovery 生成与主动采集串联为&lt;span style={{ fontWeight:'bold', color:'#FBBF24' }}&gt;完整的数据生产闭环&lt;/span&gt;，更适合保护为一个&lt;span style={{ fontWeight:'bold', color:'#FBBF24' }}&gt;系统级数据采集专利&lt;/span&gt;。&lt;/Text&gt;&#10;    &lt;/Box&gt;&#10;  &lt;/Box&gt;&#10;  &lt;Box style={{ height:36, flexDirection:'row', justifyContent:'space-between', alignItems:'center' }}&gt;&#10;    &lt;Text style={{ fontSize:14, color:'#64748B' }}&gt;专利方案汇报&lt;/Text&gt;&#10;    &lt;Text style={{ fontSize:14, color:'#64748B' }}&gt;07 / 0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4" name=""/>
          <p:cNvSpPr/>
          <p:nvPr/>
        </p:nvSpPr>
        <p:spPr>
          <a:xfrm rot="0" flipH="0" flipV="0">
            <a:off x="571500" y="190500"/>
            <a:ext cx="11049000" cy="914400"/>
          </a:xfrm>
          <a:custGeom>
            <a:pathLst>
              <a:path w="1160" h="96">
                <a:moveTo>
                  <a:pt x="0" y="93"/>
                </a:moveTo>
                <a:lnTo>
                  <a:pt x="1160" y="93"/>
                </a:lnTo>
                <a:lnTo>
                  <a:pt x="1160" y="96"/>
                </a:lnTo>
                <a:lnTo>
                  <a:pt x="0" y="96"/>
                </a:lnTo>
                <a:close/>
              </a:path>
            </a:pathLst>
          </a:custGeom>
          <a:solidFill>
            <a:srgbClr val="1E3A8A"/>
          </a:solidFill>
          <a:ln/>
        </p:spPr>
        <p:txBody>
          <a:bodyPr/>
          <a:p/>
        </p:txBody>
      </p:sp>
      <p:sp>
        <p:nvSpPr>
          <p:cNvPr id="135" name=""/>
          <p:cNvSpPr/>
          <p:nvPr/>
        </p:nvSpPr>
        <p:spPr>
          <a:xfrm rot="0" flipH="0" flipV="0">
            <a:off x="571500" y="428625"/>
            <a:ext cx="76200" cy="4191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00100" y="447675"/>
            <a:ext cx="28479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E3A8A"/>
                </a:solidFill>
                <a:latin typeface="PingFang SC"/>
                <a:ea typeface="PingFang SC"/>
              </a:rPr>
              <a:t>⑥ </a:t>
            </a:r>
            <a:r>
              <a:rPr lang="zh-CN" sz="2400" b="1">
                <a:solidFill>
                  <a:srgbClr val="1E3A8A"/>
                </a:solidFill>
                <a:latin typeface="PingFang SC"/>
                <a:ea typeface="PingFang SC"/>
              </a:rPr>
              <a:t>创新点与专利价值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571500" y="57721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42950" y="5905500"/>
            <a:ext cx="107061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FFFFFF"/>
                </a:solidFill>
                <a:latin typeface="PingFang SC"/>
                <a:ea typeface="PingFang SC"/>
              </a:rPr>
              <a:t>综合价值：将</a:t>
            </a:r>
            <a:r>
              <a:rPr lang="en-US" sz="1200">
                <a:solidFill>
                  <a:srgbClr val="FFFFFF"/>
                </a:solidFill>
                <a:latin typeface="PingFang SC"/>
                <a:ea typeface="PingFang SC"/>
              </a:rPr>
              <a:t> Task </a:t>
            </a:r>
            <a:r>
              <a:rPr lang="zh-CN" sz="1200">
                <a:solidFill>
                  <a:srgbClr val="FFFFFF"/>
                </a:solidFill>
                <a:latin typeface="PingFang SC"/>
                <a:ea typeface="PingFang SC"/>
              </a:rPr>
              <a:t>生成、</a:t>
            </a:r>
            <a:r>
              <a:rPr lang="en-US" sz="1200">
                <a:solidFill>
                  <a:srgbClr val="FFFFFF"/>
                </a:solidFill>
                <a:latin typeface="PingFang SC"/>
                <a:ea typeface="PingFang SC"/>
              </a:rPr>
              <a:t>Subtask </a:t>
            </a:r>
            <a:r>
              <a:rPr lang="zh-CN" sz="1200">
                <a:solidFill>
                  <a:srgbClr val="FFFFFF"/>
                </a:solidFill>
                <a:latin typeface="PingFang SC"/>
                <a:ea typeface="PingFang SC"/>
              </a:rPr>
              <a:t>采集、</a:t>
            </a:r>
            <a:r>
              <a:rPr lang="en-US" sz="1200">
                <a:solidFill>
                  <a:srgbClr val="FFFFFF"/>
                </a:solidFill>
                <a:latin typeface="PingFang SC"/>
                <a:ea typeface="PingFang SC"/>
              </a:rPr>
              <a:t>Failure </a:t>
            </a:r>
            <a:r>
              <a:rPr lang="zh-CN" sz="1200">
                <a:solidFill>
                  <a:srgbClr val="FFFFFF"/>
                </a:solidFill>
                <a:latin typeface="PingFang SC"/>
                <a:ea typeface="PingFang SC"/>
              </a:rPr>
              <a:t>检测、</a:t>
            </a:r>
            <a:r>
              <a:rPr lang="en-US" sz="1200">
                <a:solidFill>
                  <a:srgbClr val="FFFFFF"/>
                </a:solidFill>
                <a:latin typeface="PingFang SC"/>
                <a:ea typeface="PingFang SC"/>
              </a:rPr>
              <a:t>Recovery </a:t>
            </a:r>
            <a:r>
              <a:rPr lang="zh-CN" sz="1200">
                <a:solidFill>
                  <a:srgbClr val="FFFFFF"/>
                </a:solidFill>
                <a:latin typeface="PingFang SC"/>
                <a:ea typeface="PingFang SC"/>
              </a:rPr>
              <a:t>生成与主动采集串联为</a:t>
            </a:r>
            <a:r>
              <a:rPr lang="zh-CN" sz="1200" b="1">
                <a:solidFill>
                  <a:srgbClr val="FBBF24"/>
                </a:solidFill>
                <a:latin typeface="PingFang SC"/>
                <a:ea typeface="PingFang SC"/>
              </a:rPr>
              <a:t>完整的数据生产闭环</a:t>
            </a:r>
            <a:r>
              <a:rPr lang="zh-CN" sz="1200">
                <a:solidFill>
                  <a:srgbClr val="FFFFFF"/>
                </a:solidFill>
                <a:latin typeface="PingFang SC"/>
                <a:ea typeface="PingFang SC"/>
              </a:rPr>
              <a:t>，更适合保护为一个</a:t>
            </a:r>
            <a:r>
              <a:rPr lang="zh-CN" sz="1200" b="1">
                <a:solidFill>
                  <a:srgbClr val="FBBF24"/>
                </a:solidFill>
                <a:latin typeface="PingFang SC"/>
                <a:ea typeface="PingFang SC"/>
              </a:rPr>
              <a:t>系统级数据采集专利</a:t>
            </a:r>
            <a:r>
              <a:rPr lang="zh-CN" sz="1200">
                <a:solidFill>
                  <a:srgbClr val="FFFFFF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571500" y="641985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专利方案汇报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1144250" y="641985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07 / 08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647700" y="12573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781050" y="1323975"/>
            <a:ext cx="66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104900" y="1257300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3A8A"/>
                </a:solidFill>
                <a:latin typeface="PingFang SC"/>
                <a:ea typeface="PingFang SC"/>
              </a:rPr>
              <a:t>Agent </a:t>
            </a: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驱动的新颖长程</a:t>
            </a:r>
            <a:r>
              <a:rPr lang="en-US" sz="1500" b="1">
                <a:solidFill>
                  <a:srgbClr val="1E3A8A"/>
                </a:solidFill>
                <a:latin typeface="PingFang SC"/>
                <a:ea typeface="PingFang SC"/>
              </a:rPr>
              <a:t> Task </a:t>
            </a: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数据生成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104900" y="1514475"/>
            <a:ext cx="10515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不同于单一抓取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/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放置任务，主动构造具多个连续状态转换与最终目标的完整长程任务，增加长程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VLA/VLM Planner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所需复杂训练数据。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47700" y="19240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62000" y="1990725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104900" y="1924050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面向数据采集的</a:t>
            </a:r>
            <a:r>
              <a:rPr lang="en-US" sz="1500" b="1">
                <a:solidFill>
                  <a:srgbClr val="1E3A8A"/>
                </a:solidFill>
                <a:latin typeface="PingFang SC"/>
                <a:ea typeface="PingFang SC"/>
              </a:rPr>
              <a:t> Subtask Orchestration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104900" y="2181225"/>
            <a:ext cx="10515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Task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分解的目的不是单纯辅助机器人执行，而是控制人工数据采集过程，同时自动产生具有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Subtask Boundary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的长程训练数据资产。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647700" y="25908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62000" y="2657475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104900" y="2590800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在线</a:t>
            </a:r>
            <a:r>
              <a:rPr lang="en-US" sz="1500" b="1">
                <a:solidFill>
                  <a:srgbClr val="1E3A8A"/>
                </a:solidFill>
                <a:latin typeface="PingFang SC"/>
                <a:ea typeface="PingFang SC"/>
              </a:rPr>
              <a:t> Failure-aware </a:t>
            </a: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数据采集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104900" y="2847975"/>
            <a:ext cx="10515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Agent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在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Subtask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执行中主动识别失败并即时终止，把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"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采集事故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"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转化为具精确边界与状态标签的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Failure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训练数据。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647700" y="32575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62000" y="3324225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104900" y="3257550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3A8A"/>
                </a:solidFill>
                <a:latin typeface="PingFang SC"/>
                <a:ea typeface="PingFang SC"/>
              </a:rPr>
              <a:t>Recovery / Replanning </a:t>
            </a: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数据自动产生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104900" y="3514725"/>
            <a:ext cx="10515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失败之后并非简单重启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Episode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，而是插入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Recovery Subtask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或重规划剩余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Subtask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，主动构造稀缺的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Failure→Recovery→Continue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长程数据。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647700" y="39243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762000" y="3990975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PingFang SC"/>
                <a:ea typeface="PingFang SC"/>
              </a:rPr>
              <a:t>5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104900" y="3924300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3A8A"/>
                </a:solidFill>
                <a:latin typeface="PingFang SC"/>
                <a:ea typeface="PingFang SC"/>
              </a:rPr>
              <a:t>Failure-driven Active Collection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104900" y="4181475"/>
            <a:ext cx="10515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历史失败不是采集副产品，而是下一轮</a:t>
            </a:r>
            <a:r>
              <a:rPr lang="en-US" sz="1200">
                <a:solidFill>
                  <a:srgbClr val="475569"/>
                </a:solidFill>
                <a:latin typeface="PingFang SC"/>
                <a:ea typeface="PingFang SC"/>
              </a:rPr>
              <a:t> Task </a:t>
            </a:r>
            <a:r>
              <a:rPr lang="zh-CN" sz="1200">
                <a:solidFill>
                  <a:srgbClr val="475569"/>
                </a:solidFill>
                <a:latin typeface="PingFang SC"/>
                <a:ea typeface="PingFang SC"/>
              </a:rPr>
              <a:t>生成的控制信号，自动加强机器人薄弱能力对应的数据覆盖。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800100" y="1333500"/>
            <a:ext cx="19050" cy="43053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</p:spTree>
  </p:cSld>
</p:sld>
</file>

<file path=ppt/slides/slide8.xml><?xml version="1.0" encoding="utf-8"?>
<p:sld xmlns:a16="http://schemas.microsoft.com/office/drawing/2014/main" xmlns:a="http://schemas.openxmlformats.org/drawingml/2006/main" xmlns:p="http://schemas.openxmlformats.org/presentationml/2006/main" xmlns:mc="http://schemas.openxmlformats.org/markup-compatibility/2006" mc:Ignorable="a16">
  <p:cSld>
    <p:spTree>
      <p:nvGrpSpPr>
        <p:cNvPr id="162" name="" descr="&lt;Slide style={{ width:'1280px', height:'720px', padding:'20px 60px', background:'#FFFFFF', display:'flex', flexDirection:'column', fontFamily:&quot;'PingFang SC','Microsoft YaHei',sans-serif&quot; }}&gt;&#10;  &lt;Box style={{ height:96, flexDirection:'row', alignItems:'center', gap:16, borderBottom:'3px solid #1E3A8A' }}&gt;&#10;    &lt;Box style={{ width:8, height:44, background:'#1E3A8A', borderRadius:4 }} /&gt;&#10;    &lt;Text style={{ fontSize:32, fontWeight:'bold', color:'#1E3A8A' }}&gt;⑦ 相似专利检索与新颖性辨析&lt;/Text&gt;&#10;  &lt;/Box&gt;&#10;  &lt;Box style={{ flex:1, paddingTop:14 }}&gt;&#10;    &lt;Table&#10;      style={{ width: '100%', height: '100%' }}&#10;      defaultTextStyle={{ fontSize: 13, textAlign: 'left', color: '#222', lineHeight: 1.45 }}&#10;      defaultCellStyle={{&#10;        border: {&#10;          left: { width: 1, color: '#E2E8F0' },&#10;          right: { width: 1, color: '#E2E8F0' },&#10;          top: { width: 1, color: '#E2E8F0' },&#10;          bottom: { width: 1, color: '#E2E8F0' },&#10;        },&#10;        padding: { top: 6, bottom: 6, left: 10, right: 10 },&#10;      }}&#10;      cells={[&#10;        [&#10;          { text: '现有技术', textStyle: { bold: true, color: '#fff', fontSize: 14 }, cellStyle: { background: { color: '#1E3A8A' } } },&#10;          { text: '重叠点', textStyle: { bold: true, color: '#fff', fontSize: 14 }, cellStyle: { background: { color: '#1E3A8A' } } },&#10;          { text: '我方新颖性区分', textStyle: { bold: true, color: '#fff', fontSize: 14 }, cellStyle: { background: { color: '#1E3A8A' } } },&#10;        ],&#10;        [&#10;          { text: 'AutoRT', textStyle: { bold: true } },&#10;          '环境理解→LLM生成任务→强调新颖性→数据采集',&#10;          '进一步引入长程Task→Subtask拆分→逐派发→在线成败判定→失败段标注→Recovery→结构化数据集→失败统计反控下一轮分布',&#10;        ],&#10;        [&#10;          { text: 'EP4624107A1 长程任务规划', textStyle: { bold: true } },&#10;          'LLM 将长程任务拆为 Sub-goal / Subtask 序列',&#10;          '其解决&quot;如何规划&quot;；本方案解决&quot;如何用 Subtask 序列管理训练数据采集&quot;，分解是数据生产机制的一部分而非目的',&#10;        ],&#10;        [&#10;          { text: 'US12233553B2 指令分发框架', textStyle: { bold: true } },&#10;          '涉及 Task / Subtask / Skill / 指令分发',&#10;          '其侧重能力软件分发调用；本方案派发对象是训练数据采集流程，并产出边界/标签/Recovery 及失败统计调权',&#10;        ],&#10;        [&#10;          { text: 'US20210276185A1\n图像检测失败', textStyle: { bold: true } },&#10;          '用视觉在机器人运动中检测 Failure Mode',&#10;          '失败检测在本方案只是中间态，直接控制训练数据生产与下一轮采样过程',&#10;        ],&#10;        [&#10;          { text: 'US20190339693A1\n按需遥操作', textStyle: { bold: true } },&#10;          '机器人执行受阻→人类介入',&#10;          '其目标是帮机器人完成任务；本方案目标是利用失败主动产生训练数据并参与下一轮规划',&#10;        ],&#10;        [&#10;          { text: 'US11537872B2\n对抗RL动作塑形', textStyle: { bold: true } },&#10;          '认识失败/负面数据具有训练价值',&#10;          '其解决&quot;如何使用已有好坏样本训练&quot;；本方案解决&quot;如何主动生产 Failure 数据&quot;这一上游问题',&#10;        ],&#10;        [&#10;          { text: 'SeqVLA', textStyle: { bold: true } },&#10;          '长程任务→Subtask→Completion检测→下一Subtask',&#10;          '其让 VLA 更可靠执行；本方案用同类状态信息控制数据采集，并产出三类数据集+失败驱动采样',&#10;        ],&#10;        [&#10;          { text: 'See, Plan, Rewind', textStyle: { bold: true } },&#10;          'Subtask/里程碑→进度监控→失败检测→回退恢复',&#10;          '其提升运行时成功率(测试时控制)；本方案 Failure/Recovery 本身就是待采集数据，并形成 Dataset 级第二闭环',&#10;        ],&#10;        [&#10;          { text: 'RaC 恢复与纠错扩展', textStyle: { bold: true } },&#10;          '即将失败→人类介入→回退→纠错段→恢复训练数据',&#10;          '其入口是已训练 Policy rollout；本方案入口是 Agent 主动组织整个长程采集，并让失败分布反控未来 Task 生成分布',&#10;        ],&#10;      ]}&#10;    /&gt;&#10;  &lt;/Box&gt;&#10;  &lt;Box style={{ height:36, flexDirection:'row', justifyContent:'space-between', alignItems:'center' }}&gt;&#10;    &lt;Text style={{ fontSize:14, color:'#64748B' }}&gt;专利方案汇报&lt;/Text&gt;&#10;    &lt;Text style={{ fontSize:14, color:'#64748B' }}&gt;08 / 0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571500" y="190500"/>
            <a:ext cx="11049000" cy="914400"/>
          </a:xfrm>
          <a:custGeom>
            <a:pathLst>
              <a:path w="1160" h="96">
                <a:moveTo>
                  <a:pt x="0" y="93"/>
                </a:moveTo>
                <a:lnTo>
                  <a:pt x="1160" y="93"/>
                </a:lnTo>
                <a:lnTo>
                  <a:pt x="1160" y="96"/>
                </a:lnTo>
                <a:lnTo>
                  <a:pt x="0" y="96"/>
                </a:lnTo>
                <a:close/>
              </a:path>
            </a:pathLst>
          </a:custGeom>
          <a:solidFill>
            <a:srgbClr val="1E3A8A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571500" y="428625"/>
            <a:ext cx="76200" cy="4191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00100" y="447675"/>
            <a:ext cx="40671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E3A8A"/>
                </a:solidFill>
                <a:latin typeface="PingFang SC"/>
                <a:ea typeface="PingFang SC"/>
              </a:rPr>
              <a:t>⑦ </a:t>
            </a:r>
            <a:r>
              <a:rPr lang="zh-CN" sz="2400" b="1">
                <a:solidFill>
                  <a:srgbClr val="1E3A8A"/>
                </a:solidFill>
                <a:latin typeface="PingFang SC"/>
                <a:ea typeface="PingFang SC"/>
              </a:rPr>
              <a:t>相似专利检索与新颖性辨析</a:t>
            </a:r>
            <a:endParaRPr/>
          </a:p>
        </p:txBody>
      </p:sp>
      <p:graphicFrame>
        <p:nvGraphicFramePr>
          <p:cNvPr id="167" name=""/>
          <p:cNvGraphicFramePr/>
          <p:nvPr/>
        </p:nvGraphicFramePr>
        <p:xfrm rot="0" flipH="0" flipV="0">
          <a:off x="571500" y="1238250"/>
          <a:ext cx="11049000" cy="5086350"/>
        </p:xfrm>
        <a:graphic>
          <a:graphicData uri="http://schemas.openxmlformats.org/drawingml/2006/table">
            <a:tbl>
              <a:tblGrid>
                <a:gridCol w="1635904">
                  <a:extLst>
                    <a:ext uri="{9D8B030D-6E8A-4147-A177-3AD203B41FA5}">
                      <a16:colId val="1"/>
                    </a:ext>
                  </a:extLst>
                </a:gridCol>
                <a:gridCol w="2770226">
                  <a:extLst>
                    <a:ext uri="{9D8B030D-6E8A-4147-A177-3AD203B41FA5}">
                      <a16:colId val="2"/>
                    </a:ext>
                  </a:extLst>
                </a:gridCol>
                <a:gridCol w="6642870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33909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现有技术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重叠点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我方新颖性区分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2747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AutoRT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环境理解→LLM生成任务→强调新颖性→数据采集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进一步引入长程Task→Subtask拆分→逐派发→在线成败判定→失败段标注→Recovery→结构化数据集→失败统计反控下一轮分布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2747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EP4624107A1 长程任务规划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LLM 将长程任务拆为 Sub-goal / Subtask 序列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其解决"如何规划"；本方案解决"如何用 Subtask 序列管理训练数据采集"，分解是数据生产机制的一部分而非目的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2747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US12233553B2 指令分发框架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涉及 Task / Subtask / Skill / 指令分发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其侧重能力软件分发调用；本方案派发对象是训练数据采集流程，并产出边界/标签/Recovery 及失败统计调权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2747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US20210276185A1
图像检测失败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用视觉在机器人运动中检测 Failure Mode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失败检测在本方案只是中间态，直接控制训练数据生产与下一轮采样过程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52747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US20190339693A1
按需遥操作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机器人执行受阻→人类介入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其目标是帮机器人完成任务；本方案目标是利用失败主动产生训练数据并参与下一轮规划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52747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US11537872B2
对抗RL动作塑形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认识失败/负面数据具有训练价值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其解决"如何使用已有好坏样本训练"；本方案解决"如何主动生产 Failure 数据"这一上游问题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52747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SeqVLA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长程任务→Subtask→Completion检测→下一Subtask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其让 VLA 更可靠执行；本方案用同类状态信息控制数据采集，并产出三类数据集+失败驱动采样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52747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See, Plan, Rewind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Subtask/里程碑→进度监控→失败检测→回退恢复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其提升运行时成功率(测试时控制)；本方案 Failure/Recovery 本身就是待采集数据，并形成 Dataset 级第二闭环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  <a:tr h="52747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RaC 恢复与纠错扩展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即将失败→人类介入→回退→纠错段→恢复训练数据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其入口是已训练 Policy rollout；本方案入口是 Agent 主动组织整个长程采集，并让失败分布反控未来 Task 生成分布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0"/>
                  </a:ext>
                </a:extLst>
              </a:tr>
            </a:tbl>
          </a:graphicData>
        </a:graphic>
      </p:graphicFrame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71500" y="641985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专利方案汇报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1144250" y="641985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08 / 08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2026-08-16T23:33:36Z</dcterms:created>
  <dcterms:modified xsi:type="dcterms:W3CDTF">2026-08-16T23:33:36Z</dcterms:modified>
</cp:coreProperties>
</file>